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7372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1097280"/>
            <a:ext cx="8046720" cy="640080"/>
          </a:xfrm>
          <a:prstGeom prst="rect">
            <a:avLst/>
          </a:prstGeom>
          <a:noFill/>
          <a:ln/>
        </p:spPr>
        <p:txBody>
          <a:bodyPr wrap="square" rtlCol="0" anchor="ctr"/>
          <a:lstStyle/>
          <a:p>
            <a:pPr marL="0" indent="0" algn="l">
              <a:buNone/>
            </a:pPr>
            <a:r>
              <a:rPr lang="en-US" sz="3600" b="1" kern="0" spc="400" dirty="0">
                <a:solidFill>
                  <a:srgbClr val="FFFFFF"/>
                </a:solidFill>
                <a:latin typeface="Calibri" pitchFamily="34" charset="0"/>
                <a:ea typeface="Calibri" pitchFamily="34" charset="-122"/>
                <a:cs typeface="Calibri" pitchFamily="34" charset="-120"/>
              </a:rPr>
              <a:t>MOUKTHIKA VASA</a:t>
            </a:r>
            <a:endParaRPr lang="en-US" sz="3600" dirty="0"/>
          </a:p>
        </p:txBody>
      </p:sp>
      <p:sp>
        <p:nvSpPr>
          <p:cNvPr id="3" name="Text 1"/>
          <p:cNvSpPr/>
          <p:nvPr/>
        </p:nvSpPr>
        <p:spPr>
          <a:xfrm>
            <a:off x="548640" y="1828800"/>
            <a:ext cx="8046720" cy="365760"/>
          </a:xfrm>
          <a:prstGeom prst="rect">
            <a:avLst/>
          </a:prstGeom>
          <a:noFill/>
          <a:ln/>
        </p:spPr>
        <p:txBody>
          <a:bodyPr wrap="square" rtlCol="0" anchor="ctr"/>
          <a:lstStyle/>
          <a:p>
            <a:pPr marL="0" indent="0" algn="l">
              <a:buNone/>
            </a:pPr>
            <a:r>
              <a:rPr lang="en-US" sz="1400" dirty="0">
                <a:solidFill>
                  <a:srgbClr val="A8C4E0"/>
                </a:solidFill>
                <a:latin typeface="Calibri" pitchFamily="34" charset="0"/>
                <a:ea typeface="Calibri" pitchFamily="34" charset="-122"/>
                <a:cs typeface="Calibri" pitchFamily="34" charset="-120"/>
              </a:rPr>
              <a:t>Product Specialist  |  Process &amp; Systems Analyst  |  MBA Candidate '26</a:t>
            </a:r>
            <a:endParaRPr lang="en-US" sz="1400" dirty="0"/>
          </a:p>
        </p:txBody>
      </p:sp>
      <p:sp>
        <p:nvSpPr>
          <p:cNvPr id="4" name="Shape 2"/>
          <p:cNvSpPr/>
          <p:nvPr/>
        </p:nvSpPr>
        <p:spPr>
          <a:xfrm>
            <a:off x="548640" y="2331720"/>
            <a:ext cx="3200400" cy="36576"/>
          </a:xfrm>
          <a:prstGeom prst="rect">
            <a:avLst/>
          </a:prstGeom>
          <a:solidFill>
            <a:srgbClr val="2E86AB"/>
          </a:solidFill>
          <a:ln w="12700">
            <a:solidFill>
              <a:srgbClr val="2E86AB"/>
            </a:solidFill>
            <a:prstDash val="solid"/>
          </a:ln>
        </p:spPr>
        <p:txBody>
          <a:bodyPr/>
          <a:lstStyle/>
          <a:p>
            <a:endParaRPr lang="en-IN"/>
          </a:p>
        </p:txBody>
      </p:sp>
      <p:sp>
        <p:nvSpPr>
          <p:cNvPr id="5" name="Text 3"/>
          <p:cNvSpPr/>
          <p:nvPr/>
        </p:nvSpPr>
        <p:spPr>
          <a:xfrm>
            <a:off x="548640" y="2514600"/>
            <a:ext cx="8046720" cy="365760"/>
          </a:xfrm>
          <a:prstGeom prst="rect">
            <a:avLst/>
          </a:prstGeom>
          <a:noFill/>
          <a:ln/>
        </p:spPr>
        <p:txBody>
          <a:bodyPr wrap="square" rtlCol="0" anchor="ctr"/>
          <a:lstStyle/>
          <a:p>
            <a:pPr marL="0" indent="0" algn="l">
              <a:buNone/>
            </a:pPr>
            <a:r>
              <a:rPr lang="en-US" sz="1300" kern="0" spc="300" dirty="0">
                <a:solidFill>
                  <a:srgbClr val="A8C4E0"/>
                </a:solidFill>
                <a:latin typeface="Calibri" pitchFamily="34" charset="0"/>
                <a:ea typeface="Calibri" pitchFamily="34" charset="-122"/>
                <a:cs typeface="Calibri" pitchFamily="34" charset="-120"/>
              </a:rPr>
              <a:t>PORTFOLIO OF WORK</a:t>
            </a:r>
            <a:endParaRPr lang="en-US" sz="1300" dirty="0"/>
          </a:p>
        </p:txBody>
      </p:sp>
      <p:sp>
        <p:nvSpPr>
          <p:cNvPr id="6" name="Shape 4"/>
          <p:cNvSpPr/>
          <p:nvPr/>
        </p:nvSpPr>
        <p:spPr>
          <a:xfrm>
            <a:off x="548640" y="3840480"/>
            <a:ext cx="2560320" cy="457200"/>
          </a:xfrm>
          <a:prstGeom prst="roundRect">
            <a:avLst>
              <a:gd name="adj" fmla="val 20000"/>
            </a:avLst>
          </a:prstGeom>
          <a:solidFill>
            <a:srgbClr val="2E4A8A"/>
          </a:solidFill>
          <a:ln w="12700">
            <a:solidFill>
              <a:srgbClr val="4A6AB0"/>
            </a:solidFill>
            <a:prstDash val="solid"/>
          </a:ln>
        </p:spPr>
        <p:txBody>
          <a:bodyPr/>
          <a:lstStyle/>
          <a:p>
            <a:endParaRPr lang="en-IN"/>
          </a:p>
        </p:txBody>
      </p:sp>
      <p:sp>
        <p:nvSpPr>
          <p:cNvPr id="7" name="Text 5"/>
          <p:cNvSpPr/>
          <p:nvPr/>
        </p:nvSpPr>
        <p:spPr>
          <a:xfrm>
            <a:off x="548640" y="3840480"/>
            <a:ext cx="256032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Boeing 737MAX</a:t>
            </a:r>
            <a:endParaRPr lang="en-US" sz="1100" dirty="0"/>
          </a:p>
        </p:txBody>
      </p:sp>
      <p:sp>
        <p:nvSpPr>
          <p:cNvPr id="8" name="Shape 6"/>
          <p:cNvSpPr/>
          <p:nvPr/>
        </p:nvSpPr>
        <p:spPr>
          <a:xfrm>
            <a:off x="3383280" y="3840480"/>
            <a:ext cx="2560320" cy="457200"/>
          </a:xfrm>
          <a:prstGeom prst="roundRect">
            <a:avLst>
              <a:gd name="adj" fmla="val 20000"/>
            </a:avLst>
          </a:prstGeom>
          <a:solidFill>
            <a:srgbClr val="2E4A8A"/>
          </a:solidFill>
          <a:ln w="12700">
            <a:solidFill>
              <a:srgbClr val="4A6AB0"/>
            </a:solidFill>
            <a:prstDash val="solid"/>
          </a:ln>
        </p:spPr>
        <p:txBody>
          <a:bodyPr/>
          <a:lstStyle/>
          <a:p>
            <a:endParaRPr lang="en-IN"/>
          </a:p>
        </p:txBody>
      </p:sp>
      <p:sp>
        <p:nvSpPr>
          <p:cNvPr id="9" name="Text 7"/>
          <p:cNvSpPr/>
          <p:nvPr/>
        </p:nvSpPr>
        <p:spPr>
          <a:xfrm>
            <a:off x="3383280" y="3840480"/>
            <a:ext cx="256032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DMSB Scheduling Tool</a:t>
            </a:r>
            <a:endParaRPr lang="en-US" sz="1100" dirty="0"/>
          </a:p>
        </p:txBody>
      </p:sp>
      <p:sp>
        <p:nvSpPr>
          <p:cNvPr id="10" name="Shape 8"/>
          <p:cNvSpPr/>
          <p:nvPr/>
        </p:nvSpPr>
        <p:spPr>
          <a:xfrm>
            <a:off x="6217920" y="3840480"/>
            <a:ext cx="2560320" cy="457200"/>
          </a:xfrm>
          <a:prstGeom prst="roundRect">
            <a:avLst>
              <a:gd name="adj" fmla="val 20000"/>
            </a:avLst>
          </a:prstGeom>
          <a:solidFill>
            <a:srgbClr val="2E4A8A"/>
          </a:solidFill>
          <a:ln w="12700">
            <a:solidFill>
              <a:srgbClr val="4A6AB0"/>
            </a:solidFill>
            <a:prstDash val="solid"/>
          </a:ln>
        </p:spPr>
        <p:txBody>
          <a:bodyPr/>
          <a:lstStyle/>
          <a:p>
            <a:endParaRPr lang="en-IN"/>
          </a:p>
        </p:txBody>
      </p:sp>
      <p:sp>
        <p:nvSpPr>
          <p:cNvPr id="11" name="Text 9"/>
          <p:cNvSpPr/>
          <p:nvPr/>
        </p:nvSpPr>
        <p:spPr>
          <a:xfrm>
            <a:off x="6217920" y="3840480"/>
            <a:ext cx="256032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Accenture Enterprise</a:t>
            </a:r>
            <a:endParaRPr lang="en-US" sz="1100" dirty="0"/>
          </a:p>
        </p:txBody>
      </p:sp>
      <p:sp>
        <p:nvSpPr>
          <p:cNvPr id="12" name="Text 10"/>
          <p:cNvSpPr/>
          <p:nvPr/>
        </p:nvSpPr>
        <p:spPr>
          <a:xfrm>
            <a:off x="548640" y="4572000"/>
            <a:ext cx="8046720" cy="320040"/>
          </a:xfrm>
          <a:prstGeom prst="rect">
            <a:avLst/>
          </a:prstGeom>
          <a:noFill/>
          <a:ln/>
        </p:spPr>
        <p:txBody>
          <a:bodyPr wrap="square" rtlCol="0" anchor="ctr"/>
          <a:lstStyle/>
          <a:p>
            <a:pPr marL="0" indent="0" algn="l">
              <a:buNone/>
            </a:pPr>
            <a:r>
              <a:rPr lang="en-US" sz="1000" dirty="0">
                <a:solidFill>
                  <a:srgbClr val="7A9CC0"/>
                </a:solidFill>
                <a:latin typeface="Calibri" pitchFamily="34" charset="0"/>
                <a:ea typeface="Calibri" pitchFamily="34" charset="-122"/>
                <a:cs typeface="Calibri" pitchFamily="34" charset="-120"/>
              </a:rPr>
              <a:t>mvasa@email.sc.edu  |  (803) 261-5323  |  linkedin.com/in/moukthika-vasa-mba-89278a107</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a:ln w="12700">
            <a:solidFill>
              <a:srgbClr val="1E2761"/>
            </a:solidFill>
            <a:prstDash val="solid"/>
          </a:ln>
        </p:spPr>
        <p:txBody>
          <a:bodyPr/>
          <a:lstStyle/>
          <a:p>
            <a:endParaRPr lang="en-IN"/>
          </a:p>
        </p:txBody>
      </p:sp>
      <p:sp>
        <p:nvSpPr>
          <p:cNvPr id="3" name="Text 1"/>
          <p:cNvSpPr/>
          <p:nvPr/>
        </p:nvSpPr>
        <p:spPr>
          <a:xfrm>
            <a:off x="457200" y="73152"/>
            <a:ext cx="2743200" cy="274320"/>
          </a:xfrm>
          <a:prstGeom prst="rect">
            <a:avLst/>
          </a:prstGeom>
          <a:noFill/>
          <a:ln/>
        </p:spPr>
        <p:txBody>
          <a:bodyPr wrap="square" rtlCol="0" anchor="ctr"/>
          <a:lstStyle/>
          <a:p>
            <a:pPr marL="0" indent="0">
              <a:buNone/>
            </a:pPr>
            <a:r>
              <a:rPr lang="en-US" sz="900" b="1" kern="0" spc="300" dirty="0">
                <a:solidFill>
                  <a:srgbClr val="7A9CC0"/>
                </a:solidFill>
                <a:latin typeface="Calibri" pitchFamily="34" charset="0"/>
                <a:ea typeface="Calibri" pitchFamily="34" charset="-122"/>
                <a:cs typeface="Calibri" pitchFamily="34" charset="-120"/>
              </a:rPr>
              <a:t>PROJECT 01</a:t>
            </a:r>
            <a:endParaRPr lang="en-US" sz="900" dirty="0"/>
          </a:p>
        </p:txBody>
      </p:sp>
      <p:sp>
        <p:nvSpPr>
          <p:cNvPr id="4" name="Text 2"/>
          <p:cNvSpPr/>
          <p:nvPr/>
        </p:nvSpPr>
        <p:spPr>
          <a:xfrm>
            <a:off x="457200" y="320040"/>
            <a:ext cx="7315200" cy="457200"/>
          </a:xfrm>
          <a:prstGeom prst="rect">
            <a:avLst/>
          </a:prstGeom>
          <a:noFill/>
          <a:ln/>
        </p:spPr>
        <p:txBody>
          <a:bodyPr wrap="square" rtlCol="0" anchor="ctr"/>
          <a:lstStyle/>
          <a:p>
            <a:r>
              <a:rPr lang="en-IN" sz="2000" b="1" dirty="0">
                <a:solidFill>
                  <a:srgbClr val="FFFFFF"/>
                </a:solidFill>
                <a:latin typeface="Calibri" pitchFamily="34" charset="0"/>
                <a:ea typeface="Calibri" pitchFamily="34" charset="-122"/>
                <a:cs typeface="Calibri" pitchFamily="34" charset="-120"/>
              </a:rPr>
              <a:t>Voice of Customer &amp; Workflow Optimization for Boeing 737MAX</a:t>
            </a:r>
            <a:endParaRPr lang="en-US" sz="2000" b="1" dirty="0">
              <a:solidFill>
                <a:srgbClr val="FFFFFF"/>
              </a:solidFill>
              <a:latin typeface="Calibri" pitchFamily="34" charset="0"/>
              <a:ea typeface="Calibri" pitchFamily="34" charset="-122"/>
              <a:cs typeface="Calibri" pitchFamily="34" charset="-120"/>
            </a:endParaRPr>
          </a:p>
        </p:txBody>
      </p:sp>
      <p:sp>
        <p:nvSpPr>
          <p:cNvPr id="5" name="Text 3"/>
          <p:cNvSpPr/>
          <p:nvPr/>
        </p:nvSpPr>
        <p:spPr>
          <a:xfrm>
            <a:off x="457200" y="749808"/>
            <a:ext cx="8412480" cy="228600"/>
          </a:xfrm>
          <a:prstGeom prst="rect">
            <a:avLst/>
          </a:prstGeom>
          <a:noFill/>
          <a:ln/>
        </p:spPr>
        <p:txBody>
          <a:bodyPr wrap="square" rtlCol="0" anchor="ctr"/>
          <a:lstStyle/>
          <a:p>
            <a:pPr marL="0" indent="0">
              <a:buNone/>
            </a:pPr>
            <a:r>
              <a:rPr lang="en-US" sz="1000" dirty="0">
                <a:solidFill>
                  <a:srgbClr val="A8C4E0"/>
                </a:solidFill>
                <a:latin typeface="Calibri" pitchFamily="34" charset="0"/>
                <a:ea typeface="Calibri" pitchFamily="34" charset="-122"/>
                <a:cs typeface="Calibri" pitchFamily="34" charset="-120"/>
              </a:rPr>
              <a:t>Boeing South Carolina  |  MBA Capstone Team Project  |  Jan – Apr 2025  |  Presented to Boeing Leadership</a:t>
            </a:r>
            <a:endParaRPr lang="en-US" sz="1000" dirty="0"/>
          </a:p>
        </p:txBody>
      </p:sp>
      <p:sp>
        <p:nvSpPr>
          <p:cNvPr id="6" name="Shape 4"/>
          <p:cNvSpPr/>
          <p:nvPr/>
        </p:nvSpPr>
        <p:spPr>
          <a:xfrm>
            <a:off x="365760" y="1154255"/>
            <a:ext cx="3931920" cy="3073087"/>
          </a:xfrm>
          <a:prstGeom prst="roundRect">
            <a:avLst>
              <a:gd name="adj" fmla="val 2462"/>
            </a:avLst>
          </a:prstGeom>
          <a:solidFill>
            <a:srgbClr val="F4F6FB"/>
          </a:solidFill>
          <a:ln w="12700">
            <a:solidFill>
              <a:srgbClr val="E2E8F0"/>
            </a:solidFill>
            <a:prstDash val="solid"/>
          </a:ln>
        </p:spPr>
        <p:txBody>
          <a:bodyPr/>
          <a:lstStyle/>
          <a:p>
            <a:endParaRPr lang="en-IN"/>
          </a:p>
        </p:txBody>
      </p:sp>
      <p:sp>
        <p:nvSpPr>
          <p:cNvPr id="7" name="Text 5"/>
          <p:cNvSpPr/>
          <p:nvPr/>
        </p:nvSpPr>
        <p:spPr>
          <a:xfrm>
            <a:off x="502920" y="1165860"/>
            <a:ext cx="3657600" cy="201168"/>
          </a:xfrm>
          <a:prstGeom prst="rect">
            <a:avLst/>
          </a:prstGeom>
          <a:noFill/>
          <a:ln/>
        </p:spPr>
        <p:txBody>
          <a:bodyPr wrap="square" lIns="0" tIns="0" rIns="0" bIns="0" rtlCol="0" anchor="ctr"/>
          <a:lstStyle/>
          <a:p>
            <a:pPr marL="0" indent="0">
              <a:buNone/>
            </a:pPr>
            <a:r>
              <a:rPr lang="en-US" sz="900" b="1" kern="0" spc="200" dirty="0">
                <a:solidFill>
                  <a:srgbClr val="2E86AB"/>
                </a:solidFill>
                <a:latin typeface="Calibri" pitchFamily="34" charset="0"/>
                <a:ea typeface="Calibri" pitchFamily="34" charset="-122"/>
                <a:cs typeface="Calibri" pitchFamily="34" charset="-120"/>
              </a:rPr>
              <a:t>THE PROBLEM</a:t>
            </a:r>
            <a:endParaRPr lang="en-US" sz="900" dirty="0"/>
          </a:p>
        </p:txBody>
      </p:sp>
      <p:sp>
        <p:nvSpPr>
          <p:cNvPr id="8" name="Text 6"/>
          <p:cNvSpPr/>
          <p:nvPr/>
        </p:nvSpPr>
        <p:spPr>
          <a:xfrm>
            <a:off x="502920" y="1371600"/>
            <a:ext cx="3657600" cy="475488"/>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Zone 4 Lip Skin at FSCA had no real-time WIP flow control between Anodize and Tab Removal — causing inventory buildup, defects, ergonomic hazards, and inefficiency across both Tab Removal and Polishing workstreams.</a:t>
            </a:r>
            <a:endParaRPr lang="en-US" sz="900" dirty="0"/>
          </a:p>
        </p:txBody>
      </p:sp>
      <p:sp>
        <p:nvSpPr>
          <p:cNvPr id="9" name="Shape 7"/>
          <p:cNvSpPr/>
          <p:nvPr/>
        </p:nvSpPr>
        <p:spPr>
          <a:xfrm flipV="1">
            <a:off x="502920" y="1920240"/>
            <a:ext cx="3566160" cy="9144"/>
          </a:xfrm>
          <a:prstGeom prst="line">
            <a:avLst/>
          </a:prstGeom>
          <a:noFill/>
          <a:ln w="12700">
            <a:solidFill>
              <a:srgbClr val="D1DAEA"/>
            </a:solidFill>
            <a:prstDash val="solid"/>
          </a:ln>
        </p:spPr>
        <p:txBody>
          <a:bodyPr/>
          <a:lstStyle/>
          <a:p>
            <a:endParaRPr lang="en-IN"/>
          </a:p>
        </p:txBody>
      </p:sp>
      <p:sp>
        <p:nvSpPr>
          <p:cNvPr id="10" name="Text 8"/>
          <p:cNvSpPr/>
          <p:nvPr/>
        </p:nvSpPr>
        <p:spPr>
          <a:xfrm>
            <a:off x="502920" y="1963850"/>
            <a:ext cx="3657600" cy="201168"/>
          </a:xfrm>
          <a:prstGeom prst="rect">
            <a:avLst/>
          </a:prstGeom>
          <a:noFill/>
          <a:ln/>
        </p:spPr>
        <p:txBody>
          <a:bodyPr wrap="square" lIns="0" tIns="0" rIns="0" bIns="0" rtlCol="0" anchor="ctr"/>
          <a:lstStyle/>
          <a:p>
            <a:pPr marL="0" indent="0">
              <a:buNone/>
            </a:pPr>
            <a:r>
              <a:rPr lang="en-US" sz="900" b="1" kern="0" spc="200" dirty="0">
                <a:solidFill>
                  <a:srgbClr val="2E86AB"/>
                </a:solidFill>
                <a:latin typeface="Calibri" pitchFamily="34" charset="0"/>
                <a:ea typeface="Calibri" pitchFamily="34" charset="-122"/>
                <a:cs typeface="Calibri" pitchFamily="34" charset="-120"/>
              </a:rPr>
              <a:t>MY ROLE</a:t>
            </a:r>
            <a:endParaRPr lang="en-US" sz="900" dirty="0"/>
          </a:p>
        </p:txBody>
      </p:sp>
      <p:sp>
        <p:nvSpPr>
          <p:cNvPr id="11" name="Text 9"/>
          <p:cNvSpPr/>
          <p:nvPr/>
        </p:nvSpPr>
        <p:spPr>
          <a:xfrm>
            <a:off x="509954" y="2203002"/>
            <a:ext cx="3657600" cy="1088136"/>
          </a:xfrm>
          <a:prstGeom prst="rect">
            <a:avLst/>
          </a:prstGeom>
          <a:noFill/>
          <a:ln/>
        </p:spPr>
        <p:txBody>
          <a:bodyPr wrap="square" rtlCol="0" anchor="ctr"/>
          <a:lstStyle/>
          <a:p>
            <a:pPr marL="342900" indent="-342900">
              <a:spcAft>
                <a:spcPts val="200"/>
              </a:spcAft>
              <a:buSzPct val="100000"/>
              <a:buChar char="•"/>
            </a:pPr>
            <a:r>
              <a:rPr lang="en-US" sz="900" dirty="0">
                <a:solidFill>
                  <a:srgbClr val="1A1A2E"/>
                </a:solidFill>
                <a:latin typeface="Calibri" pitchFamily="34" charset="0"/>
                <a:ea typeface="Calibri" pitchFamily="34" charset="-122"/>
                <a:cs typeface="Calibri" pitchFamily="34" charset="-120"/>
              </a:rPr>
              <a:t>VOC/VOM interviews across all 4 manufacturing zones</a:t>
            </a:r>
            <a:endParaRPr lang="en-US" sz="900" dirty="0"/>
          </a:p>
          <a:p>
            <a:pPr marL="342900" indent="-342900">
              <a:spcAft>
                <a:spcPts val="200"/>
              </a:spcAft>
              <a:buSzPct val="100000"/>
              <a:buChar char="•"/>
            </a:pPr>
            <a:r>
              <a:rPr lang="en-US" sz="900" dirty="0">
                <a:solidFill>
                  <a:srgbClr val="1A1A2E"/>
                </a:solidFill>
                <a:latin typeface="Calibri" pitchFamily="34" charset="0"/>
                <a:ea typeface="Calibri" pitchFamily="34" charset="-122"/>
                <a:cs typeface="Calibri" pitchFamily="34" charset="-120"/>
              </a:rPr>
              <a:t>Mapped current-state workflows; identified 14 improvement opportunities per process</a:t>
            </a:r>
            <a:endParaRPr lang="en-US" sz="900" dirty="0"/>
          </a:p>
          <a:p>
            <a:pPr marL="342900" indent="-342900">
              <a:spcAft>
                <a:spcPts val="200"/>
              </a:spcAft>
              <a:buSzPct val="100000"/>
              <a:buChar char="•"/>
            </a:pPr>
            <a:r>
              <a:rPr lang="en-US" sz="900" dirty="0">
                <a:solidFill>
                  <a:srgbClr val="1A1A2E"/>
                </a:solidFill>
                <a:latin typeface="Calibri" pitchFamily="34" charset="0"/>
                <a:ea typeface="Calibri" pitchFamily="34" charset="-122"/>
                <a:cs typeface="Calibri" pitchFamily="34" charset="-120"/>
              </a:rPr>
              <a:t>Designed Red-Light/Green-Light physical WIP signal system (sensor &amp; manual options)</a:t>
            </a:r>
            <a:endParaRPr lang="en-US" sz="900" dirty="0"/>
          </a:p>
          <a:p>
            <a:pPr marL="342900" indent="-342900">
              <a:spcAft>
                <a:spcPts val="200"/>
              </a:spcAft>
              <a:buSzPct val="100000"/>
              <a:buChar char="•"/>
            </a:pPr>
            <a:r>
              <a:rPr lang="en-US" sz="900" dirty="0">
                <a:solidFill>
                  <a:srgbClr val="1A1A2E"/>
                </a:solidFill>
                <a:latin typeface="Calibri" pitchFamily="34" charset="0"/>
                <a:ea typeface="Calibri" pitchFamily="34" charset="-122"/>
                <a:cs typeface="Calibri" pitchFamily="34" charset="-120"/>
              </a:rPr>
              <a:t>Developed 10+ Situational Target Proposals for tooling, ergonomics, process redesign</a:t>
            </a:r>
            <a:endParaRPr lang="en-US" sz="900" dirty="0"/>
          </a:p>
          <a:p>
            <a:pPr marL="342900" indent="-342900">
              <a:spcAft>
                <a:spcPts val="200"/>
              </a:spcAft>
              <a:buSzPct val="100000"/>
              <a:buChar char="•"/>
            </a:pPr>
            <a:r>
              <a:rPr lang="en-US" sz="900" dirty="0">
                <a:solidFill>
                  <a:srgbClr val="1A1A2E"/>
                </a:solidFill>
                <a:latin typeface="Calibri" pitchFamily="34" charset="0"/>
                <a:ea typeface="Calibri" pitchFamily="34" charset="-122"/>
                <a:cs typeface="Calibri" pitchFamily="34" charset="-120"/>
              </a:rPr>
              <a:t>Created future-state Yamazumi charts and 5S station layouts</a:t>
            </a:r>
            <a:endParaRPr lang="en-US" sz="900" dirty="0"/>
          </a:p>
        </p:txBody>
      </p:sp>
      <p:sp>
        <p:nvSpPr>
          <p:cNvPr id="12" name="Shape 10"/>
          <p:cNvSpPr/>
          <p:nvPr/>
        </p:nvSpPr>
        <p:spPr>
          <a:xfrm>
            <a:off x="555674" y="3374488"/>
            <a:ext cx="3566160" cy="0"/>
          </a:xfrm>
          <a:prstGeom prst="line">
            <a:avLst/>
          </a:prstGeom>
          <a:noFill/>
          <a:ln w="12700">
            <a:solidFill>
              <a:srgbClr val="D1DAEA"/>
            </a:solidFill>
            <a:prstDash val="solid"/>
          </a:ln>
        </p:spPr>
        <p:txBody>
          <a:bodyPr/>
          <a:lstStyle/>
          <a:p>
            <a:endParaRPr lang="en-IN"/>
          </a:p>
        </p:txBody>
      </p:sp>
      <p:sp>
        <p:nvSpPr>
          <p:cNvPr id="13" name="Text 11"/>
          <p:cNvSpPr/>
          <p:nvPr/>
        </p:nvSpPr>
        <p:spPr>
          <a:xfrm>
            <a:off x="502920" y="3416341"/>
            <a:ext cx="3657600" cy="201168"/>
          </a:xfrm>
          <a:prstGeom prst="rect">
            <a:avLst/>
          </a:prstGeom>
          <a:noFill/>
          <a:ln/>
        </p:spPr>
        <p:txBody>
          <a:bodyPr wrap="square" lIns="0" tIns="0" rIns="0" bIns="0" rtlCol="0" anchor="ctr"/>
          <a:lstStyle/>
          <a:p>
            <a:pPr marL="0" indent="0">
              <a:buNone/>
            </a:pPr>
            <a:r>
              <a:rPr lang="en-US" sz="900" b="1" kern="0" spc="200" dirty="0">
                <a:solidFill>
                  <a:srgbClr val="2E86AB"/>
                </a:solidFill>
                <a:latin typeface="Calibri" pitchFamily="34" charset="0"/>
                <a:ea typeface="Calibri" pitchFamily="34" charset="-122"/>
                <a:cs typeface="Calibri" pitchFamily="34" charset="-120"/>
              </a:rPr>
              <a:t>THE SOLUTION</a:t>
            </a:r>
            <a:endParaRPr lang="en-US" sz="900" dirty="0"/>
          </a:p>
        </p:txBody>
      </p:sp>
      <p:sp>
        <p:nvSpPr>
          <p:cNvPr id="14" name="Text 12"/>
          <p:cNvSpPr/>
          <p:nvPr/>
        </p:nvSpPr>
        <p:spPr>
          <a:xfrm>
            <a:off x="548640" y="3621024"/>
            <a:ext cx="3657600" cy="475488"/>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Physical Red-Light/Green-Light WIP system between Anodize and Tab Removal + 5S redesigns, ergonomic tooling upgrades, and standardized workflows across both workstreams.</a:t>
            </a:r>
            <a:endParaRPr lang="en-US" sz="900" dirty="0"/>
          </a:p>
        </p:txBody>
      </p:sp>
      <p:sp>
        <p:nvSpPr>
          <p:cNvPr id="15" name="Text 13"/>
          <p:cNvSpPr/>
          <p:nvPr/>
        </p:nvSpPr>
        <p:spPr>
          <a:xfrm>
            <a:off x="4663440" y="1097280"/>
            <a:ext cx="4114800" cy="256032"/>
          </a:xfrm>
          <a:prstGeom prst="rect">
            <a:avLst/>
          </a:prstGeom>
          <a:noFill/>
          <a:ln/>
        </p:spPr>
        <p:txBody>
          <a:bodyPr wrap="square"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OUTCOMES</a:t>
            </a:r>
            <a:endParaRPr lang="en-US" sz="900" dirty="0"/>
          </a:p>
        </p:txBody>
      </p:sp>
      <p:sp>
        <p:nvSpPr>
          <p:cNvPr id="16" name="Shape 14"/>
          <p:cNvSpPr/>
          <p:nvPr/>
        </p:nvSpPr>
        <p:spPr>
          <a:xfrm>
            <a:off x="4663440" y="1417320"/>
            <a:ext cx="1920240" cy="960120"/>
          </a:xfrm>
          <a:prstGeom prst="roundRect">
            <a:avLst>
              <a:gd name="adj" fmla="val 9524"/>
            </a:avLst>
          </a:prstGeom>
          <a:solidFill>
            <a:srgbClr val="1E2761"/>
          </a:solidFill>
          <a:ln w="12700">
            <a:solidFill>
              <a:srgbClr val="1E2761"/>
            </a:solidFill>
            <a:prstDash val="solid"/>
          </a:ln>
          <a:effectLst>
            <a:outerShdw blurRad="101600" dist="38100" dir="2700000" algn="bl" rotWithShape="0">
              <a:srgbClr val="000000">
                <a:alpha val="12000"/>
              </a:srgbClr>
            </a:outerShdw>
          </a:effectLst>
        </p:spPr>
        <p:txBody>
          <a:bodyPr/>
          <a:lstStyle/>
          <a:p>
            <a:endParaRPr lang="en-IN"/>
          </a:p>
        </p:txBody>
      </p:sp>
      <p:sp>
        <p:nvSpPr>
          <p:cNvPr id="17" name="Text 15"/>
          <p:cNvSpPr/>
          <p:nvPr/>
        </p:nvSpPr>
        <p:spPr>
          <a:xfrm>
            <a:off x="4663440" y="1490472"/>
            <a:ext cx="1920240" cy="438912"/>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100%</a:t>
            </a:r>
            <a:endParaRPr lang="en-US" sz="2400" dirty="0"/>
          </a:p>
        </p:txBody>
      </p:sp>
      <p:sp>
        <p:nvSpPr>
          <p:cNvPr id="18" name="Text 16"/>
          <p:cNvSpPr/>
          <p:nvPr/>
        </p:nvSpPr>
        <p:spPr>
          <a:xfrm>
            <a:off x="4663440" y="1929384"/>
            <a:ext cx="1920240" cy="402336"/>
          </a:xfrm>
          <a:prstGeom prst="rect">
            <a:avLst/>
          </a:prstGeom>
          <a:noFill/>
          <a:ln/>
        </p:spPr>
        <p:txBody>
          <a:bodyPr wrap="square" rtlCol="0" anchor="ctr"/>
          <a:lstStyle/>
          <a:p>
            <a:pPr marL="0" indent="0" algn="ctr">
              <a:buNone/>
            </a:pPr>
            <a:r>
              <a:rPr lang="en-US" sz="900" dirty="0">
                <a:solidFill>
                  <a:srgbClr val="A8C4E0"/>
                </a:solidFill>
                <a:latin typeface="Calibri" pitchFamily="34" charset="0"/>
                <a:ea typeface="Calibri" pitchFamily="34" charset="-122"/>
                <a:cs typeface="Calibri" pitchFamily="34" charset="-120"/>
              </a:rPr>
              <a:t>Pull Compliance — Zero Overstock</a:t>
            </a:r>
            <a:endParaRPr lang="en-US" sz="900" dirty="0"/>
          </a:p>
        </p:txBody>
      </p:sp>
      <p:sp>
        <p:nvSpPr>
          <p:cNvPr id="19" name="Shape 17"/>
          <p:cNvSpPr/>
          <p:nvPr/>
        </p:nvSpPr>
        <p:spPr>
          <a:xfrm>
            <a:off x="6766560" y="1417320"/>
            <a:ext cx="1920240" cy="960120"/>
          </a:xfrm>
          <a:prstGeom prst="roundRect">
            <a:avLst>
              <a:gd name="adj" fmla="val 9524"/>
            </a:avLst>
          </a:prstGeom>
          <a:solidFill>
            <a:srgbClr val="E8EEF9"/>
          </a:solidFill>
          <a:ln w="12700">
            <a:solidFill>
              <a:srgbClr val="D1DAEA"/>
            </a:solidFill>
            <a:prstDash val="solid"/>
          </a:ln>
          <a:effectLst>
            <a:outerShdw blurRad="101600" dist="38100" dir="2700000" algn="bl" rotWithShape="0">
              <a:srgbClr val="000000">
                <a:alpha val="12000"/>
              </a:srgbClr>
            </a:outerShdw>
          </a:effectLst>
        </p:spPr>
        <p:txBody>
          <a:bodyPr/>
          <a:lstStyle/>
          <a:p>
            <a:endParaRPr lang="en-IN"/>
          </a:p>
        </p:txBody>
      </p:sp>
      <p:sp>
        <p:nvSpPr>
          <p:cNvPr id="20" name="Text 18"/>
          <p:cNvSpPr/>
          <p:nvPr/>
        </p:nvSpPr>
        <p:spPr>
          <a:xfrm>
            <a:off x="6766560" y="1490472"/>
            <a:ext cx="1920240" cy="438912"/>
          </a:xfrm>
          <a:prstGeom prst="rect">
            <a:avLst/>
          </a:prstGeom>
          <a:noFill/>
          <a:ln/>
        </p:spPr>
        <p:txBody>
          <a:bodyPr wrap="square" rtlCol="0" anchor="ctr"/>
          <a:lstStyle/>
          <a:p>
            <a:pPr marL="0" indent="0" algn="ctr">
              <a:buNone/>
            </a:pPr>
            <a:r>
              <a:rPr lang="en-US" sz="2400" b="1" dirty="0">
                <a:solidFill>
                  <a:srgbClr val="1E2761"/>
                </a:solidFill>
                <a:latin typeface="Calibri" pitchFamily="34" charset="0"/>
                <a:ea typeface="Calibri" pitchFamily="34" charset="-122"/>
                <a:cs typeface="Calibri" pitchFamily="34" charset="-120"/>
              </a:rPr>
              <a:t>75%</a:t>
            </a:r>
            <a:endParaRPr lang="en-US" sz="2400" dirty="0"/>
          </a:p>
        </p:txBody>
      </p:sp>
      <p:sp>
        <p:nvSpPr>
          <p:cNvPr id="21" name="Text 19"/>
          <p:cNvSpPr/>
          <p:nvPr/>
        </p:nvSpPr>
        <p:spPr>
          <a:xfrm>
            <a:off x="6766560" y="1929384"/>
            <a:ext cx="1920240" cy="402336"/>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WIP Inventory Buildup Reduced</a:t>
            </a:r>
            <a:endParaRPr lang="en-US" sz="900" dirty="0"/>
          </a:p>
        </p:txBody>
      </p:sp>
      <p:sp>
        <p:nvSpPr>
          <p:cNvPr id="22" name="Shape 20"/>
          <p:cNvSpPr/>
          <p:nvPr/>
        </p:nvSpPr>
        <p:spPr>
          <a:xfrm>
            <a:off x="4663440" y="2532888"/>
            <a:ext cx="1920240" cy="960120"/>
          </a:xfrm>
          <a:prstGeom prst="roundRect">
            <a:avLst>
              <a:gd name="adj" fmla="val 9524"/>
            </a:avLst>
          </a:prstGeom>
          <a:solidFill>
            <a:srgbClr val="E8EEF9"/>
          </a:solidFill>
          <a:ln w="12700">
            <a:solidFill>
              <a:srgbClr val="D1DAEA"/>
            </a:solidFill>
            <a:prstDash val="solid"/>
          </a:ln>
          <a:effectLst>
            <a:outerShdw blurRad="101600" dist="38100" dir="2700000" algn="bl" rotWithShape="0">
              <a:srgbClr val="000000">
                <a:alpha val="12000"/>
              </a:srgbClr>
            </a:outerShdw>
          </a:effectLst>
        </p:spPr>
        <p:txBody>
          <a:bodyPr/>
          <a:lstStyle/>
          <a:p>
            <a:endParaRPr lang="en-IN"/>
          </a:p>
        </p:txBody>
      </p:sp>
      <p:sp>
        <p:nvSpPr>
          <p:cNvPr id="23" name="Text 21"/>
          <p:cNvSpPr/>
          <p:nvPr/>
        </p:nvSpPr>
        <p:spPr>
          <a:xfrm>
            <a:off x="4663440" y="2606040"/>
            <a:ext cx="1920240" cy="438912"/>
          </a:xfrm>
          <a:prstGeom prst="rect">
            <a:avLst/>
          </a:prstGeom>
          <a:noFill/>
          <a:ln/>
        </p:spPr>
        <p:txBody>
          <a:bodyPr wrap="square" rtlCol="0" anchor="ctr"/>
          <a:lstStyle/>
          <a:p>
            <a:pPr marL="0" indent="0" algn="ctr">
              <a:buNone/>
            </a:pPr>
            <a:r>
              <a:rPr lang="en-US" sz="2400" b="1" dirty="0">
                <a:solidFill>
                  <a:srgbClr val="1E2761"/>
                </a:solidFill>
                <a:latin typeface="Calibri" pitchFamily="34" charset="0"/>
                <a:ea typeface="Calibri" pitchFamily="34" charset="-122"/>
                <a:cs typeface="Calibri" pitchFamily="34" charset="-120"/>
              </a:rPr>
              <a:t>60%</a:t>
            </a:r>
            <a:endParaRPr lang="en-US" sz="2400" dirty="0"/>
          </a:p>
        </p:txBody>
      </p:sp>
      <p:sp>
        <p:nvSpPr>
          <p:cNvPr id="24" name="Text 22"/>
          <p:cNvSpPr/>
          <p:nvPr/>
        </p:nvSpPr>
        <p:spPr>
          <a:xfrm>
            <a:off x="4663440" y="3044952"/>
            <a:ext cx="1920240" cy="402336"/>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First-Pass Yield Improved</a:t>
            </a:r>
            <a:endParaRPr lang="en-US" sz="900" dirty="0"/>
          </a:p>
        </p:txBody>
      </p:sp>
      <p:sp>
        <p:nvSpPr>
          <p:cNvPr id="25" name="Shape 23"/>
          <p:cNvSpPr/>
          <p:nvPr/>
        </p:nvSpPr>
        <p:spPr>
          <a:xfrm>
            <a:off x="6766560" y="2532888"/>
            <a:ext cx="1920240" cy="960120"/>
          </a:xfrm>
          <a:prstGeom prst="roundRect">
            <a:avLst>
              <a:gd name="adj" fmla="val 9524"/>
            </a:avLst>
          </a:prstGeom>
          <a:solidFill>
            <a:srgbClr val="E8EEF9"/>
          </a:solidFill>
          <a:ln w="12700">
            <a:solidFill>
              <a:srgbClr val="D1DAEA"/>
            </a:solidFill>
            <a:prstDash val="solid"/>
          </a:ln>
          <a:effectLst>
            <a:outerShdw blurRad="101600" dist="38100" dir="2700000" algn="bl" rotWithShape="0">
              <a:srgbClr val="000000">
                <a:alpha val="12000"/>
              </a:srgbClr>
            </a:outerShdw>
          </a:effectLst>
        </p:spPr>
        <p:txBody>
          <a:bodyPr/>
          <a:lstStyle/>
          <a:p>
            <a:endParaRPr lang="en-IN"/>
          </a:p>
        </p:txBody>
      </p:sp>
      <p:sp>
        <p:nvSpPr>
          <p:cNvPr id="26" name="Text 24"/>
          <p:cNvSpPr/>
          <p:nvPr/>
        </p:nvSpPr>
        <p:spPr>
          <a:xfrm>
            <a:off x="6766560" y="2606040"/>
            <a:ext cx="1920240" cy="438912"/>
          </a:xfrm>
          <a:prstGeom prst="rect">
            <a:avLst/>
          </a:prstGeom>
          <a:noFill/>
          <a:ln/>
        </p:spPr>
        <p:txBody>
          <a:bodyPr wrap="square" rtlCol="0" anchor="ctr"/>
          <a:lstStyle/>
          <a:p>
            <a:pPr marL="0" indent="0" algn="ctr">
              <a:buNone/>
            </a:pPr>
            <a:r>
              <a:rPr lang="en-US" sz="2400" b="1" dirty="0">
                <a:solidFill>
                  <a:srgbClr val="1E2761"/>
                </a:solidFill>
                <a:latin typeface="Calibri" pitchFamily="34" charset="0"/>
                <a:ea typeface="Calibri" pitchFamily="34" charset="-122"/>
                <a:cs typeface="Calibri" pitchFamily="34" charset="-120"/>
              </a:rPr>
              <a:t>32–35%</a:t>
            </a:r>
            <a:endParaRPr lang="en-US" sz="2400" dirty="0"/>
          </a:p>
        </p:txBody>
      </p:sp>
      <p:sp>
        <p:nvSpPr>
          <p:cNvPr id="27" name="Text 25"/>
          <p:cNvSpPr/>
          <p:nvPr/>
        </p:nvSpPr>
        <p:spPr>
          <a:xfrm>
            <a:off x="6766560" y="3044952"/>
            <a:ext cx="1920240" cy="402336"/>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Tab Removal &amp; Polishing Cycle Time</a:t>
            </a:r>
            <a:endParaRPr lang="en-US" sz="900" dirty="0"/>
          </a:p>
        </p:txBody>
      </p:sp>
      <p:sp>
        <p:nvSpPr>
          <p:cNvPr id="30" name="Text 28"/>
          <p:cNvSpPr/>
          <p:nvPr/>
        </p:nvSpPr>
        <p:spPr>
          <a:xfrm>
            <a:off x="4663440" y="4160520"/>
            <a:ext cx="1920240" cy="402336"/>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Operator Safety Improved</a:t>
            </a:r>
            <a:endParaRPr lang="en-US" sz="900" dirty="0"/>
          </a:p>
        </p:txBody>
      </p:sp>
      <p:sp>
        <p:nvSpPr>
          <p:cNvPr id="31" name="Shape 29"/>
          <p:cNvSpPr/>
          <p:nvPr/>
        </p:nvSpPr>
        <p:spPr>
          <a:xfrm>
            <a:off x="365760" y="4315968"/>
            <a:ext cx="8412480" cy="621792"/>
          </a:xfrm>
          <a:prstGeom prst="roundRect">
            <a:avLst>
              <a:gd name="adj" fmla="val 11765"/>
            </a:avLst>
          </a:prstGeom>
          <a:solidFill>
            <a:srgbClr val="EEF4FF"/>
          </a:solidFill>
          <a:ln w="12700">
            <a:solidFill>
              <a:srgbClr val="C7D7F5"/>
            </a:solidFill>
            <a:prstDash val="solid"/>
          </a:ln>
        </p:spPr>
        <p:txBody>
          <a:bodyPr/>
          <a:lstStyle/>
          <a:p>
            <a:endParaRPr lang="en-IN"/>
          </a:p>
        </p:txBody>
      </p:sp>
      <p:sp>
        <p:nvSpPr>
          <p:cNvPr id="32" name="Text 30"/>
          <p:cNvSpPr/>
          <p:nvPr/>
        </p:nvSpPr>
        <p:spPr>
          <a:xfrm>
            <a:off x="502920" y="4279392"/>
            <a:ext cx="8229600" cy="475488"/>
          </a:xfrm>
          <a:prstGeom prst="rect">
            <a:avLst/>
          </a:prstGeom>
          <a:noFill/>
          <a:ln/>
        </p:spPr>
        <p:txBody>
          <a:bodyPr wrap="square" rtlCol="0" anchor="ctr"/>
          <a:lstStyle/>
          <a:p>
            <a:pPr marL="0" indent="0" algn="ctr">
              <a:buNone/>
            </a:pPr>
            <a:r>
              <a:rPr lang="en-US" sz="900" dirty="0">
                <a:solidFill>
                  <a:srgbClr val="1E2761"/>
                </a:solidFill>
                <a:latin typeface="Calibri" pitchFamily="34" charset="0"/>
                <a:ea typeface="Calibri" pitchFamily="34" charset="-122"/>
                <a:cs typeface="Calibri" pitchFamily="34" charset="-120"/>
              </a:rPr>
              <a:t>Skills Demonstrated: VOC/VOM Research  •  Current &amp; Future-State Workflow Mapping  •  Requirements Definition  •  STP Product Proposals  •  5S &amp; Kaizen  •  Lean Six Sigma  •  Stakeholder Presentation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E86AB"/>
          </a:solidFill>
          <a:ln w="12700">
            <a:solidFill>
              <a:srgbClr val="2E86AB"/>
            </a:solidFill>
            <a:prstDash val="solid"/>
          </a:ln>
        </p:spPr>
        <p:txBody>
          <a:bodyPr/>
          <a:lstStyle/>
          <a:p>
            <a:endParaRPr lang="en-IN"/>
          </a:p>
        </p:txBody>
      </p:sp>
      <p:sp>
        <p:nvSpPr>
          <p:cNvPr id="3" name="Text 1"/>
          <p:cNvSpPr/>
          <p:nvPr/>
        </p:nvSpPr>
        <p:spPr>
          <a:xfrm>
            <a:off x="457200" y="73152"/>
            <a:ext cx="2743200" cy="274320"/>
          </a:xfrm>
          <a:prstGeom prst="rect">
            <a:avLst/>
          </a:prstGeom>
          <a:noFill/>
          <a:ln/>
        </p:spPr>
        <p:txBody>
          <a:bodyPr wrap="square" rtlCol="0" anchor="ctr"/>
          <a:lstStyle/>
          <a:p>
            <a:pPr marL="0" indent="0">
              <a:buNone/>
            </a:pPr>
            <a:r>
              <a:rPr lang="en-US" sz="900" b="1" kern="0" spc="300" dirty="0">
                <a:solidFill>
                  <a:srgbClr val="C8E6F5"/>
                </a:solidFill>
                <a:latin typeface="Calibri" pitchFamily="34" charset="0"/>
                <a:ea typeface="Calibri" pitchFamily="34" charset="-122"/>
                <a:cs typeface="Calibri" pitchFamily="34" charset="-120"/>
              </a:rPr>
              <a:t>PROJECT 02</a:t>
            </a:r>
            <a:endParaRPr lang="en-US" sz="900" dirty="0"/>
          </a:p>
        </p:txBody>
      </p:sp>
      <p:sp>
        <p:nvSpPr>
          <p:cNvPr id="4" name="Text 2"/>
          <p:cNvSpPr/>
          <p:nvPr/>
        </p:nvSpPr>
        <p:spPr>
          <a:xfrm>
            <a:off x="457200" y="320040"/>
            <a:ext cx="685800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Classroom Scheduling Optimization Tool</a:t>
            </a:r>
            <a:endParaRPr lang="en-US" sz="2200" dirty="0"/>
          </a:p>
        </p:txBody>
      </p:sp>
      <p:sp>
        <p:nvSpPr>
          <p:cNvPr id="5" name="Text 3"/>
          <p:cNvSpPr/>
          <p:nvPr/>
        </p:nvSpPr>
        <p:spPr>
          <a:xfrm>
            <a:off x="457200" y="749808"/>
            <a:ext cx="8412480" cy="228600"/>
          </a:xfrm>
          <a:prstGeom prst="rect">
            <a:avLst/>
          </a:prstGeom>
          <a:noFill/>
          <a:ln/>
        </p:spPr>
        <p:txBody>
          <a:bodyPr wrap="square" rtlCol="0" anchor="ctr"/>
          <a:lstStyle/>
          <a:p>
            <a:pPr marL="0" indent="0">
              <a:buNone/>
            </a:pPr>
            <a:r>
              <a:rPr lang="en-US" sz="1000" dirty="0">
                <a:solidFill>
                  <a:srgbClr val="C8E6F5"/>
                </a:solidFill>
                <a:latin typeface="Calibri" pitchFamily="34" charset="0"/>
                <a:ea typeface="Calibri" pitchFamily="34" charset="-122"/>
                <a:cs typeface="Calibri" pitchFamily="34" charset="-120"/>
              </a:rPr>
              <a:t>Darla Moore School of Business, University of South Carolina  |  Referred by Faculty — Mark Ferguson, Rohit &amp; Satish  |  2025</a:t>
            </a:r>
            <a:endParaRPr lang="en-US" sz="1000" dirty="0"/>
          </a:p>
        </p:txBody>
      </p:sp>
      <p:sp>
        <p:nvSpPr>
          <p:cNvPr id="6" name="Shape 4"/>
          <p:cNvSpPr/>
          <p:nvPr/>
        </p:nvSpPr>
        <p:spPr>
          <a:xfrm>
            <a:off x="365760" y="1097280"/>
            <a:ext cx="8412480" cy="658368"/>
          </a:xfrm>
          <a:prstGeom prst="roundRect">
            <a:avLst>
              <a:gd name="adj" fmla="val 11111"/>
            </a:avLst>
          </a:prstGeom>
          <a:solidFill>
            <a:srgbClr val="F4F6FB"/>
          </a:solidFill>
          <a:ln w="12700">
            <a:solidFill>
              <a:srgbClr val="E2E8F0"/>
            </a:solidFill>
            <a:prstDash val="solid"/>
          </a:ln>
        </p:spPr>
        <p:txBody>
          <a:bodyPr/>
          <a:lstStyle/>
          <a:p>
            <a:endParaRPr lang="en-IN"/>
          </a:p>
        </p:txBody>
      </p:sp>
      <p:sp>
        <p:nvSpPr>
          <p:cNvPr id="7" name="Text 5"/>
          <p:cNvSpPr/>
          <p:nvPr/>
        </p:nvSpPr>
        <p:spPr>
          <a:xfrm>
            <a:off x="502920" y="1109941"/>
            <a:ext cx="2743200" cy="201168"/>
          </a:xfrm>
          <a:prstGeom prst="rect">
            <a:avLst/>
          </a:prstGeom>
          <a:noFill/>
          <a:ln/>
        </p:spPr>
        <p:txBody>
          <a:bodyPr wrap="square" rtlCol="0" anchor="ctr"/>
          <a:lstStyle/>
          <a:p>
            <a:pPr marL="0" indent="0">
              <a:buNone/>
            </a:pPr>
            <a:r>
              <a:rPr lang="en-US" sz="900" b="1" kern="0" spc="200" dirty="0">
                <a:solidFill>
                  <a:srgbClr val="2E86AB"/>
                </a:solidFill>
                <a:latin typeface="Calibri" pitchFamily="34" charset="0"/>
                <a:ea typeface="Calibri" pitchFamily="34" charset="-122"/>
                <a:cs typeface="Calibri" pitchFamily="34" charset="-120"/>
              </a:rPr>
              <a:t>THE PROBLEM</a:t>
            </a:r>
            <a:endParaRPr lang="en-US" sz="900" dirty="0"/>
          </a:p>
        </p:txBody>
      </p:sp>
      <p:sp>
        <p:nvSpPr>
          <p:cNvPr id="8" name="Text 6"/>
          <p:cNvSpPr/>
          <p:nvPr/>
        </p:nvSpPr>
        <p:spPr>
          <a:xfrm>
            <a:off x="548640" y="1325880"/>
            <a:ext cx="8046720" cy="384048"/>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Faculty at Darla Moore School of Business needed a way to view real-time classroom availability across all rooms, days, and time slots. The manual process required contacting administrators for every booking inquiry — time-consuming, error-prone, and unsustainable. </a:t>
            </a:r>
            <a:r>
              <a:rPr lang="en-IN" sz="1000" dirty="0"/>
              <a:t>A faculty member needed a solution and reached out to me, referred by professors Mark Ferguson, Rohit, and Satish.</a:t>
            </a:r>
            <a:endParaRPr lang="en-US" sz="1000" dirty="0"/>
          </a:p>
        </p:txBody>
      </p:sp>
      <p:sp>
        <p:nvSpPr>
          <p:cNvPr id="9" name="Shape 7"/>
          <p:cNvSpPr/>
          <p:nvPr/>
        </p:nvSpPr>
        <p:spPr>
          <a:xfrm>
            <a:off x="365760" y="1874520"/>
            <a:ext cx="2743200" cy="2423160"/>
          </a:xfrm>
          <a:prstGeom prst="roundRect">
            <a:avLst>
              <a:gd name="adj" fmla="val 3774"/>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10" name="Shape 8"/>
          <p:cNvSpPr/>
          <p:nvPr/>
        </p:nvSpPr>
        <p:spPr>
          <a:xfrm>
            <a:off x="365760" y="1874520"/>
            <a:ext cx="2743200" cy="301752"/>
          </a:xfrm>
          <a:prstGeom prst="rect">
            <a:avLst/>
          </a:prstGeom>
          <a:solidFill>
            <a:srgbClr val="1E2761"/>
          </a:solidFill>
          <a:ln w="12700">
            <a:solidFill>
              <a:srgbClr val="1E2761"/>
            </a:solidFill>
            <a:prstDash val="solid"/>
          </a:ln>
        </p:spPr>
        <p:txBody>
          <a:bodyPr/>
          <a:lstStyle/>
          <a:p>
            <a:endParaRPr lang="en-IN"/>
          </a:p>
        </p:txBody>
      </p:sp>
      <p:sp>
        <p:nvSpPr>
          <p:cNvPr id="11" name="Text 9"/>
          <p:cNvSpPr/>
          <p:nvPr/>
        </p:nvSpPr>
        <p:spPr>
          <a:xfrm>
            <a:off x="457200" y="1901952"/>
            <a:ext cx="2560320" cy="256032"/>
          </a:xfrm>
          <a:prstGeom prst="rect">
            <a:avLst/>
          </a:prstGeom>
          <a:noFill/>
          <a:ln/>
        </p:spPr>
        <p:txBody>
          <a:bodyPr wrap="square" rtlCol="0" anchor="ctr"/>
          <a:lstStyle/>
          <a:p>
            <a:pPr marL="0" indent="0">
              <a:buNone/>
            </a:pPr>
            <a:r>
              <a:rPr lang="en-US" sz="900" b="1" kern="0" spc="200" dirty="0">
                <a:solidFill>
                  <a:srgbClr val="FFFFFF"/>
                </a:solidFill>
                <a:latin typeface="Calibri" pitchFamily="34" charset="0"/>
                <a:ea typeface="Calibri" pitchFamily="34" charset="-122"/>
                <a:cs typeface="Calibri" pitchFamily="34" charset="-120"/>
              </a:rPr>
              <a:t>MY APPROACH</a:t>
            </a:r>
            <a:endParaRPr lang="en-US" sz="900" dirty="0"/>
          </a:p>
        </p:txBody>
      </p:sp>
      <p:sp>
        <p:nvSpPr>
          <p:cNvPr id="12" name="Text 10"/>
          <p:cNvSpPr/>
          <p:nvPr/>
        </p:nvSpPr>
        <p:spPr>
          <a:xfrm>
            <a:off x="457200" y="2212848"/>
            <a:ext cx="2560320" cy="2029968"/>
          </a:xfrm>
          <a:prstGeom prst="rect">
            <a:avLst/>
          </a:prstGeom>
          <a:noFill/>
          <a:ln/>
        </p:spPr>
        <p:txBody>
          <a:bodyPr wrap="square" rtlCol="0" anchor="ctr"/>
          <a:lstStyle/>
          <a:p>
            <a:pPr marL="342900" indent="-342900">
              <a:spcAft>
                <a:spcPts val="300"/>
              </a:spcAft>
              <a:buSzPct val="100000"/>
              <a:buChar char="•"/>
            </a:pPr>
            <a:r>
              <a:rPr lang="en-US" sz="1000" dirty="0">
                <a:solidFill>
                  <a:srgbClr val="1A1A2E"/>
                </a:solidFill>
                <a:latin typeface="Calibri" pitchFamily="34" charset="0"/>
                <a:ea typeface="Calibri" pitchFamily="34" charset="-122"/>
                <a:cs typeface="Calibri" pitchFamily="34" charset="-120"/>
              </a:rPr>
              <a:t>Identified pain point through direct faculty observation and referral intake</a:t>
            </a:r>
            <a:endParaRPr lang="en-US" sz="1000" dirty="0"/>
          </a:p>
          <a:p>
            <a:pPr marL="342900" indent="-342900">
              <a:spcAft>
                <a:spcPts val="300"/>
              </a:spcAft>
              <a:buSzPct val="100000"/>
              <a:buChar char="•"/>
            </a:pPr>
            <a:r>
              <a:rPr lang="en-US" sz="1000" dirty="0">
                <a:solidFill>
                  <a:srgbClr val="1A1A2E"/>
                </a:solidFill>
                <a:latin typeface="Calibri" pitchFamily="34" charset="0"/>
                <a:ea typeface="Calibri" pitchFamily="34" charset="-122"/>
                <a:cs typeface="Calibri" pitchFamily="34" charset="-120"/>
              </a:rPr>
              <a:t>Gathered requirements: filter by room number, view occupancy by day and time</a:t>
            </a:r>
            <a:endParaRPr lang="en-US" sz="1000" dirty="0"/>
          </a:p>
          <a:p>
            <a:pPr marL="342900" indent="-342900">
              <a:spcAft>
                <a:spcPts val="300"/>
              </a:spcAft>
              <a:buSzPct val="100000"/>
              <a:buChar char="•"/>
            </a:pPr>
            <a:r>
              <a:rPr lang="en-US" sz="1000" dirty="0">
                <a:solidFill>
                  <a:srgbClr val="1A1A2E"/>
                </a:solidFill>
                <a:latin typeface="Calibri" pitchFamily="34" charset="0"/>
                <a:ea typeface="Calibri" pitchFamily="34" charset="-122"/>
                <a:cs typeface="Calibri" pitchFamily="34" charset="-120"/>
              </a:rPr>
              <a:t>Mapped current manual scheduling workflow and friction points</a:t>
            </a:r>
            <a:endParaRPr lang="en-US" sz="1000" dirty="0"/>
          </a:p>
          <a:p>
            <a:pPr marL="342900" indent="-342900">
              <a:spcAft>
                <a:spcPts val="300"/>
              </a:spcAft>
              <a:buSzPct val="100000"/>
              <a:buChar char="•"/>
            </a:pPr>
            <a:r>
              <a:rPr lang="en-US" sz="1000" dirty="0">
                <a:solidFill>
                  <a:srgbClr val="1A1A2E"/>
                </a:solidFill>
                <a:latin typeface="Calibri" pitchFamily="34" charset="0"/>
                <a:ea typeface="Calibri" pitchFamily="34" charset="-122"/>
                <a:cs typeface="Calibri" pitchFamily="34" charset="-120"/>
              </a:rPr>
              <a:t>Defined output: dynamic calendar grid filterable in real time</a:t>
            </a:r>
            <a:endParaRPr lang="en-US" sz="1000" dirty="0"/>
          </a:p>
        </p:txBody>
      </p:sp>
      <p:sp>
        <p:nvSpPr>
          <p:cNvPr id="13" name="Shape 11"/>
          <p:cNvSpPr/>
          <p:nvPr/>
        </p:nvSpPr>
        <p:spPr>
          <a:xfrm>
            <a:off x="3246120" y="1874520"/>
            <a:ext cx="2743200" cy="2423160"/>
          </a:xfrm>
          <a:prstGeom prst="roundRect">
            <a:avLst>
              <a:gd name="adj" fmla="val 3774"/>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14" name="Shape 12"/>
          <p:cNvSpPr/>
          <p:nvPr/>
        </p:nvSpPr>
        <p:spPr>
          <a:xfrm>
            <a:off x="3246120" y="1874520"/>
            <a:ext cx="2743200" cy="301752"/>
          </a:xfrm>
          <a:prstGeom prst="rect">
            <a:avLst/>
          </a:prstGeom>
          <a:solidFill>
            <a:srgbClr val="2E86AB"/>
          </a:solidFill>
          <a:ln w="12700">
            <a:solidFill>
              <a:srgbClr val="2E86AB"/>
            </a:solidFill>
            <a:prstDash val="solid"/>
          </a:ln>
        </p:spPr>
        <p:txBody>
          <a:bodyPr/>
          <a:lstStyle/>
          <a:p>
            <a:endParaRPr lang="en-IN"/>
          </a:p>
        </p:txBody>
      </p:sp>
      <p:sp>
        <p:nvSpPr>
          <p:cNvPr id="15" name="Text 13"/>
          <p:cNvSpPr/>
          <p:nvPr/>
        </p:nvSpPr>
        <p:spPr>
          <a:xfrm>
            <a:off x="3337560" y="1901952"/>
            <a:ext cx="2560320" cy="256032"/>
          </a:xfrm>
          <a:prstGeom prst="rect">
            <a:avLst/>
          </a:prstGeom>
          <a:noFill/>
          <a:ln/>
        </p:spPr>
        <p:txBody>
          <a:bodyPr wrap="square" rtlCol="0" anchor="ctr"/>
          <a:lstStyle/>
          <a:p>
            <a:pPr marL="0" indent="0">
              <a:buNone/>
            </a:pPr>
            <a:r>
              <a:rPr lang="en-US" sz="900" b="1" kern="0" spc="200" dirty="0">
                <a:solidFill>
                  <a:srgbClr val="FFFFFF"/>
                </a:solidFill>
                <a:latin typeface="Calibri" pitchFamily="34" charset="0"/>
                <a:ea typeface="Calibri" pitchFamily="34" charset="-122"/>
                <a:cs typeface="Calibri" pitchFamily="34" charset="-120"/>
              </a:rPr>
              <a:t>THE SOLUTION</a:t>
            </a:r>
            <a:endParaRPr lang="en-US" sz="900" dirty="0"/>
          </a:p>
        </p:txBody>
      </p:sp>
      <p:sp>
        <p:nvSpPr>
          <p:cNvPr id="16" name="Text 14"/>
          <p:cNvSpPr/>
          <p:nvPr/>
        </p:nvSpPr>
        <p:spPr>
          <a:xfrm>
            <a:off x="3337560" y="2212848"/>
            <a:ext cx="2560320" cy="2029968"/>
          </a:xfrm>
          <a:prstGeom prst="rect">
            <a:avLst/>
          </a:prstGeom>
          <a:noFill/>
          <a:ln/>
        </p:spPr>
        <p:txBody>
          <a:bodyPr wrap="square" rtlCol="0" anchor="ctr"/>
          <a:lstStyle/>
          <a:p>
            <a:pPr marL="342900" indent="-342900">
              <a:spcAft>
                <a:spcPts val="300"/>
              </a:spcAft>
              <a:buSzPct val="100000"/>
              <a:buChar char="•"/>
            </a:pPr>
            <a:r>
              <a:rPr lang="en-US" sz="1000" dirty="0">
                <a:solidFill>
                  <a:srgbClr val="1A1A2E"/>
                </a:solidFill>
                <a:latin typeface="Calibri" pitchFamily="34" charset="0"/>
                <a:ea typeface="Calibri" pitchFamily="34" charset="-122"/>
                <a:cs typeface="Calibri" pitchFamily="34" charset="-120"/>
              </a:rPr>
              <a:t>Dynamic Excel calendar built on raw course schedule data (All sheet)</a:t>
            </a:r>
            <a:endParaRPr lang="en-US" sz="1000" dirty="0"/>
          </a:p>
          <a:p>
            <a:pPr marL="342900" indent="-342900">
              <a:spcAft>
                <a:spcPts val="300"/>
              </a:spcAft>
              <a:buSzPct val="100000"/>
              <a:buChar char="•"/>
            </a:pPr>
            <a:r>
              <a:rPr lang="en-US" sz="1000" dirty="0">
                <a:solidFill>
                  <a:srgbClr val="1A1A2E"/>
                </a:solidFill>
                <a:latin typeface="Calibri" pitchFamily="34" charset="0"/>
                <a:ea typeface="Calibri" pitchFamily="34" charset="-122"/>
                <a:cs typeface="Calibri" pitchFamily="34" charset="-120"/>
              </a:rPr>
              <a:t>Used SUMIFS, INDEX-MATCH, CONCATENATE, TRANSPOSE, and named ranges</a:t>
            </a:r>
            <a:endParaRPr lang="en-US" sz="1000" dirty="0"/>
          </a:p>
          <a:p>
            <a:pPr marL="342900" indent="-342900">
              <a:spcAft>
                <a:spcPts val="300"/>
              </a:spcAft>
              <a:buSzPct val="100000"/>
              <a:buChar char="•"/>
            </a:pPr>
            <a:r>
              <a:rPr lang="en-US" sz="1000" dirty="0">
                <a:solidFill>
                  <a:srgbClr val="1A1A2E"/>
                </a:solidFill>
                <a:latin typeface="Calibri" pitchFamily="34" charset="0"/>
                <a:ea typeface="Calibri" pitchFamily="34" charset="-122"/>
                <a:cs typeface="Calibri" pitchFamily="34" charset="-120"/>
              </a:rPr>
              <a:t>Room dropdown via Data Validation — selecting room updates entire calendar</a:t>
            </a:r>
            <a:endParaRPr lang="en-US" sz="1000" dirty="0"/>
          </a:p>
          <a:p>
            <a:pPr marL="342900" indent="-342900">
              <a:spcAft>
                <a:spcPts val="300"/>
              </a:spcAft>
              <a:buSzPct val="100000"/>
              <a:buChar char="•"/>
            </a:pPr>
            <a:r>
              <a:rPr lang="en-US" sz="1000" dirty="0">
                <a:solidFill>
                  <a:srgbClr val="1A1A2E"/>
                </a:solidFill>
                <a:latin typeface="Calibri" pitchFamily="34" charset="0"/>
                <a:ea typeface="Calibri" pitchFamily="34" charset="-122"/>
                <a:cs typeface="Calibri" pitchFamily="34" charset="-120"/>
              </a:rPr>
              <a:t>Conditional formatting: red = occupied, blank = available — instant visual read</a:t>
            </a:r>
            <a:endParaRPr lang="en-US" sz="1000" dirty="0"/>
          </a:p>
        </p:txBody>
      </p:sp>
      <p:sp>
        <p:nvSpPr>
          <p:cNvPr id="17" name="Shape 15"/>
          <p:cNvSpPr/>
          <p:nvPr/>
        </p:nvSpPr>
        <p:spPr>
          <a:xfrm>
            <a:off x="6126480" y="1874520"/>
            <a:ext cx="2743200" cy="2423160"/>
          </a:xfrm>
          <a:prstGeom prst="roundRect">
            <a:avLst>
              <a:gd name="adj" fmla="val 3774"/>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18" name="Shape 16"/>
          <p:cNvSpPr/>
          <p:nvPr/>
        </p:nvSpPr>
        <p:spPr>
          <a:xfrm>
            <a:off x="6126480" y="1874520"/>
            <a:ext cx="2743200" cy="301752"/>
          </a:xfrm>
          <a:prstGeom prst="rect">
            <a:avLst/>
          </a:prstGeom>
          <a:solidFill>
            <a:srgbClr val="0D9488"/>
          </a:solidFill>
          <a:ln w="12700">
            <a:solidFill>
              <a:srgbClr val="0D9488"/>
            </a:solidFill>
            <a:prstDash val="solid"/>
          </a:ln>
        </p:spPr>
        <p:txBody>
          <a:bodyPr/>
          <a:lstStyle/>
          <a:p>
            <a:endParaRPr lang="en-IN"/>
          </a:p>
        </p:txBody>
      </p:sp>
      <p:sp>
        <p:nvSpPr>
          <p:cNvPr id="19" name="Text 17"/>
          <p:cNvSpPr/>
          <p:nvPr/>
        </p:nvSpPr>
        <p:spPr>
          <a:xfrm>
            <a:off x="6217920" y="1901952"/>
            <a:ext cx="2560320" cy="256032"/>
          </a:xfrm>
          <a:prstGeom prst="rect">
            <a:avLst/>
          </a:prstGeom>
          <a:noFill/>
          <a:ln/>
        </p:spPr>
        <p:txBody>
          <a:bodyPr wrap="square" rtlCol="0" anchor="ctr"/>
          <a:lstStyle/>
          <a:p>
            <a:pPr marL="0" indent="0">
              <a:buNone/>
            </a:pPr>
            <a:r>
              <a:rPr lang="en-US" sz="900" b="1" kern="0" spc="200" dirty="0">
                <a:solidFill>
                  <a:srgbClr val="FFFFFF"/>
                </a:solidFill>
                <a:latin typeface="Calibri" pitchFamily="34" charset="0"/>
                <a:ea typeface="Calibri" pitchFamily="34" charset="-122"/>
                <a:cs typeface="Calibri" pitchFamily="34" charset="-120"/>
              </a:rPr>
              <a:t>OUTCOME</a:t>
            </a:r>
            <a:endParaRPr lang="en-US" sz="900" dirty="0"/>
          </a:p>
        </p:txBody>
      </p:sp>
      <p:sp>
        <p:nvSpPr>
          <p:cNvPr id="20" name="Text 18"/>
          <p:cNvSpPr/>
          <p:nvPr/>
        </p:nvSpPr>
        <p:spPr>
          <a:xfrm>
            <a:off x="6217920" y="2212848"/>
            <a:ext cx="2560320" cy="2029968"/>
          </a:xfrm>
          <a:prstGeom prst="rect">
            <a:avLst/>
          </a:prstGeom>
          <a:noFill/>
          <a:ln/>
        </p:spPr>
        <p:txBody>
          <a:bodyPr wrap="square" rtlCol="0" anchor="ctr"/>
          <a:lstStyle/>
          <a:p>
            <a:pPr marL="342900" indent="-342900">
              <a:spcAft>
                <a:spcPts val="300"/>
              </a:spcAft>
              <a:buSzPct val="100000"/>
              <a:buChar char="•"/>
            </a:pPr>
            <a:r>
              <a:rPr lang="en-IN" sz="1000" dirty="0"/>
              <a:t>Immediately adopted by faculty end users </a:t>
            </a:r>
          </a:p>
          <a:p>
            <a:pPr marL="342900" indent="-342900">
              <a:spcAft>
                <a:spcPts val="300"/>
              </a:spcAft>
              <a:buSzPct val="100000"/>
              <a:buChar char="•"/>
            </a:pPr>
            <a:r>
              <a:rPr lang="en-US" sz="1000" dirty="0">
                <a:solidFill>
                  <a:srgbClr val="1A1A2E"/>
                </a:solidFill>
                <a:latin typeface="Calibri" pitchFamily="34" charset="0"/>
                <a:ea typeface="Calibri" pitchFamily="34" charset="-122"/>
                <a:cs typeface="Calibri" pitchFamily="34" charset="-120"/>
              </a:rPr>
              <a:t>Eliminated all manual scheduling coordination entirely</a:t>
            </a:r>
            <a:endParaRPr lang="en-US" sz="1000" dirty="0"/>
          </a:p>
          <a:p>
            <a:pPr marL="342900" indent="-342900">
              <a:spcAft>
                <a:spcPts val="300"/>
              </a:spcAft>
              <a:buSzPct val="100000"/>
              <a:buChar char="•"/>
            </a:pPr>
            <a:r>
              <a:rPr lang="en-US" sz="1000" dirty="0">
                <a:solidFill>
                  <a:srgbClr val="1A1A2E"/>
                </a:solidFill>
                <a:latin typeface="Calibri" pitchFamily="34" charset="0"/>
                <a:ea typeface="Calibri" pitchFamily="34" charset="-122"/>
                <a:cs typeface="Calibri" pitchFamily="34" charset="-120"/>
              </a:rPr>
              <a:t>Room availability lookup reduced from minutes to seconds</a:t>
            </a:r>
            <a:endParaRPr lang="en-US" sz="1000" dirty="0"/>
          </a:p>
          <a:p>
            <a:pPr marL="342900" indent="-342900">
              <a:spcAft>
                <a:spcPts val="300"/>
              </a:spcAft>
              <a:buSzPct val="100000"/>
              <a:buChar char="•"/>
            </a:pPr>
            <a:r>
              <a:rPr lang="en-US" sz="1000" dirty="0">
                <a:solidFill>
                  <a:srgbClr val="1A1A2E"/>
                </a:solidFill>
                <a:latin typeface="Calibri" pitchFamily="34" charset="0"/>
                <a:ea typeface="Calibri" pitchFamily="34" charset="-122"/>
                <a:cs typeface="Calibri" pitchFamily="34" charset="-120"/>
              </a:rPr>
              <a:t>End-to-end product cycle: user problem → requirements → build → adoption</a:t>
            </a:r>
            <a:endParaRPr lang="en-US" sz="1000" dirty="0"/>
          </a:p>
        </p:txBody>
      </p:sp>
      <p:sp>
        <p:nvSpPr>
          <p:cNvPr id="21" name="Shape 19"/>
          <p:cNvSpPr/>
          <p:nvPr/>
        </p:nvSpPr>
        <p:spPr>
          <a:xfrm>
            <a:off x="365760" y="4416552"/>
            <a:ext cx="8412480" cy="411480"/>
          </a:xfrm>
          <a:prstGeom prst="roundRect">
            <a:avLst>
              <a:gd name="adj" fmla="val 17778"/>
            </a:avLst>
          </a:prstGeom>
          <a:solidFill>
            <a:srgbClr val="EEF4FF"/>
          </a:solidFill>
          <a:ln w="12700">
            <a:solidFill>
              <a:srgbClr val="C7D7F5"/>
            </a:solidFill>
            <a:prstDash val="solid"/>
          </a:ln>
        </p:spPr>
        <p:txBody>
          <a:bodyPr/>
          <a:lstStyle/>
          <a:p>
            <a:endParaRPr lang="en-IN"/>
          </a:p>
        </p:txBody>
      </p:sp>
      <p:sp>
        <p:nvSpPr>
          <p:cNvPr id="22" name="Text 20"/>
          <p:cNvSpPr/>
          <p:nvPr/>
        </p:nvSpPr>
        <p:spPr>
          <a:xfrm>
            <a:off x="457200" y="4453128"/>
            <a:ext cx="8229600" cy="338328"/>
          </a:xfrm>
          <a:prstGeom prst="rect">
            <a:avLst/>
          </a:prstGeom>
          <a:noFill/>
          <a:ln/>
        </p:spPr>
        <p:txBody>
          <a:bodyPr wrap="square" rtlCol="0" anchor="ctr"/>
          <a:lstStyle/>
          <a:p>
            <a:pPr marL="0" indent="0" algn="ctr">
              <a:buNone/>
            </a:pPr>
            <a:r>
              <a:rPr lang="en-US" sz="900" dirty="0">
                <a:solidFill>
                  <a:srgbClr val="1E2761"/>
                </a:solidFill>
                <a:latin typeface="Calibri" pitchFamily="34" charset="0"/>
                <a:ea typeface="Calibri" pitchFamily="34" charset="-122"/>
                <a:cs typeface="Calibri" pitchFamily="34" charset="-120"/>
              </a:rPr>
              <a:t>Skills: User Problem Identification  •  Requirements Gathering  •  Advanced Excel (SUMIFS, INDEX-MATCH, TRANSPOSE)  •  Tool Design &amp; Build  •  Stakeholder Delivery  •  Adoption Enablement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1A2E"/>
          </a:solidFill>
          <a:ln w="12700">
            <a:solidFill>
              <a:srgbClr val="1A1A2E"/>
            </a:solidFill>
            <a:prstDash val="solid"/>
          </a:ln>
        </p:spPr>
        <p:txBody>
          <a:bodyPr/>
          <a:lstStyle/>
          <a:p>
            <a:endParaRPr lang="en-IN"/>
          </a:p>
        </p:txBody>
      </p:sp>
      <p:sp>
        <p:nvSpPr>
          <p:cNvPr id="3" name="Text 1"/>
          <p:cNvSpPr/>
          <p:nvPr/>
        </p:nvSpPr>
        <p:spPr>
          <a:xfrm>
            <a:off x="457200" y="73152"/>
            <a:ext cx="2743200" cy="274320"/>
          </a:xfrm>
          <a:prstGeom prst="rect">
            <a:avLst/>
          </a:prstGeom>
          <a:noFill/>
          <a:ln/>
        </p:spPr>
        <p:txBody>
          <a:bodyPr wrap="square" rtlCol="0" anchor="ctr"/>
          <a:lstStyle/>
          <a:p>
            <a:pPr marL="0" indent="0">
              <a:buNone/>
            </a:pPr>
            <a:r>
              <a:rPr lang="en-US" sz="900" b="1" kern="0" spc="300" dirty="0">
                <a:solidFill>
                  <a:srgbClr val="7A9CC0"/>
                </a:solidFill>
                <a:latin typeface="Calibri" pitchFamily="34" charset="0"/>
                <a:ea typeface="Calibri" pitchFamily="34" charset="-122"/>
                <a:cs typeface="Calibri" pitchFamily="34" charset="-120"/>
              </a:rPr>
              <a:t>PROJECT 03</a:t>
            </a:r>
            <a:endParaRPr lang="en-US" sz="900" dirty="0"/>
          </a:p>
        </p:txBody>
      </p:sp>
      <p:sp>
        <p:nvSpPr>
          <p:cNvPr id="4" name="Text 2"/>
          <p:cNvSpPr/>
          <p:nvPr/>
        </p:nvSpPr>
        <p:spPr>
          <a:xfrm>
            <a:off x="457200" y="320040"/>
            <a:ext cx="731520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Enterprise System Enablement &amp; Process Automation</a:t>
            </a:r>
            <a:endParaRPr lang="en-US" sz="2200" dirty="0"/>
          </a:p>
        </p:txBody>
      </p:sp>
      <p:sp>
        <p:nvSpPr>
          <p:cNvPr id="5" name="Text 3"/>
          <p:cNvSpPr/>
          <p:nvPr/>
        </p:nvSpPr>
        <p:spPr>
          <a:xfrm>
            <a:off x="457200" y="749808"/>
            <a:ext cx="8229600" cy="228600"/>
          </a:xfrm>
          <a:prstGeom prst="rect">
            <a:avLst/>
          </a:prstGeom>
          <a:noFill/>
          <a:ln/>
        </p:spPr>
        <p:txBody>
          <a:bodyPr wrap="square" rtlCol="0" anchor="ctr"/>
          <a:lstStyle/>
          <a:p>
            <a:pPr marL="0" indent="0">
              <a:buNone/>
            </a:pPr>
            <a:r>
              <a:rPr lang="en-US" sz="1000" dirty="0">
                <a:solidFill>
                  <a:srgbClr val="7A9CC0"/>
                </a:solidFill>
                <a:latin typeface="Calibri" pitchFamily="34" charset="0"/>
                <a:ea typeface="Calibri" pitchFamily="34" charset="-122"/>
                <a:cs typeface="Calibri" pitchFamily="34" charset="-120"/>
              </a:rPr>
              <a:t>Accenture  |  Application Development Team Lead  |  8 Years  |  2016 – 2024</a:t>
            </a:r>
            <a:endParaRPr lang="en-US" sz="1000" dirty="0"/>
          </a:p>
        </p:txBody>
      </p:sp>
      <p:sp>
        <p:nvSpPr>
          <p:cNvPr id="6" name="Shape 4"/>
          <p:cNvSpPr/>
          <p:nvPr/>
        </p:nvSpPr>
        <p:spPr>
          <a:xfrm>
            <a:off x="365760" y="1115568"/>
            <a:ext cx="8412480" cy="566928"/>
          </a:xfrm>
          <a:prstGeom prst="roundRect">
            <a:avLst>
              <a:gd name="adj" fmla="val 12903"/>
            </a:avLst>
          </a:prstGeom>
          <a:solidFill>
            <a:srgbClr val="F4F6FB"/>
          </a:solidFill>
          <a:ln w="12700">
            <a:solidFill>
              <a:srgbClr val="E2E8F0"/>
            </a:solidFill>
            <a:prstDash val="solid"/>
          </a:ln>
        </p:spPr>
        <p:txBody>
          <a:bodyPr/>
          <a:lstStyle/>
          <a:p>
            <a:endParaRPr lang="en-IN"/>
          </a:p>
        </p:txBody>
      </p:sp>
      <p:sp>
        <p:nvSpPr>
          <p:cNvPr id="7" name="Text 5"/>
          <p:cNvSpPr/>
          <p:nvPr/>
        </p:nvSpPr>
        <p:spPr>
          <a:xfrm>
            <a:off x="548640" y="1125415"/>
            <a:ext cx="1828800" cy="201168"/>
          </a:xfrm>
          <a:prstGeom prst="rect">
            <a:avLst/>
          </a:prstGeom>
          <a:noFill/>
          <a:ln/>
        </p:spPr>
        <p:txBody>
          <a:bodyPr wrap="square" rtlCol="0" anchor="ctr"/>
          <a:lstStyle/>
          <a:p>
            <a:pPr marL="0" indent="0">
              <a:buNone/>
            </a:pPr>
            <a:r>
              <a:rPr lang="en-US" sz="900" b="1" kern="0" spc="200" dirty="0">
                <a:solidFill>
                  <a:srgbClr val="2E86AB"/>
                </a:solidFill>
                <a:latin typeface="Calibri" pitchFamily="34" charset="0"/>
                <a:ea typeface="Calibri" pitchFamily="34" charset="-122"/>
                <a:cs typeface="Calibri" pitchFamily="34" charset="-120"/>
              </a:rPr>
              <a:t>CONTEXT</a:t>
            </a:r>
            <a:endParaRPr lang="en-US" sz="900" dirty="0"/>
          </a:p>
        </p:txBody>
      </p:sp>
      <p:sp>
        <p:nvSpPr>
          <p:cNvPr id="8" name="Text 6"/>
          <p:cNvSpPr/>
          <p:nvPr/>
        </p:nvSpPr>
        <p:spPr>
          <a:xfrm>
            <a:off x="365760" y="1344168"/>
            <a:ext cx="8412480" cy="33832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Served as the primary bridge between business stakeholders and technical IT teams across global clients in finance, operations, and supply chain. Responsible for requirements gathering, workflow documentation, process automation, and driving enterprise-wide adoption of SAP and ServiceNow systems.</a:t>
            </a:r>
            <a:endParaRPr lang="en-US" sz="1000" dirty="0"/>
          </a:p>
        </p:txBody>
      </p:sp>
      <p:sp>
        <p:nvSpPr>
          <p:cNvPr id="9" name="Shape 7"/>
          <p:cNvSpPr/>
          <p:nvPr/>
        </p:nvSpPr>
        <p:spPr>
          <a:xfrm>
            <a:off x="365760" y="1810512"/>
            <a:ext cx="4114800" cy="1097280"/>
          </a:xfrm>
          <a:prstGeom prst="roundRect">
            <a:avLst>
              <a:gd name="adj" fmla="val 8333"/>
            </a:avLst>
          </a:prstGeom>
          <a:solidFill>
            <a:srgbClr val="E8EEF9"/>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10" name="Text 8"/>
          <p:cNvSpPr/>
          <p:nvPr/>
        </p:nvSpPr>
        <p:spPr>
          <a:xfrm>
            <a:off x="502920" y="1883664"/>
            <a:ext cx="3840480" cy="256032"/>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Requirements &amp; Documentation</a:t>
            </a:r>
            <a:endParaRPr lang="en-US" sz="1100" dirty="0"/>
          </a:p>
        </p:txBody>
      </p:sp>
      <p:sp>
        <p:nvSpPr>
          <p:cNvPr id="11" name="Text 9"/>
          <p:cNvSpPr/>
          <p:nvPr/>
        </p:nvSpPr>
        <p:spPr>
          <a:xfrm>
            <a:off x="502920" y="2139696"/>
            <a:ext cx="3840480" cy="713232"/>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Gathered business and IT requirements from cross-functional stakeholders. Documented current-state and future-state workflows, created functional specifications, and translated complex business needs into actionable system designs.</a:t>
            </a:r>
            <a:endParaRPr lang="en-US" sz="1000" dirty="0"/>
          </a:p>
        </p:txBody>
      </p:sp>
      <p:sp>
        <p:nvSpPr>
          <p:cNvPr id="12" name="Shape 10"/>
          <p:cNvSpPr/>
          <p:nvPr/>
        </p:nvSpPr>
        <p:spPr>
          <a:xfrm>
            <a:off x="4663440" y="1810512"/>
            <a:ext cx="4114800" cy="1097280"/>
          </a:xfrm>
          <a:prstGeom prst="roundRect">
            <a:avLst>
              <a:gd name="adj" fmla="val 8333"/>
            </a:avLst>
          </a:prstGeom>
          <a:solidFill>
            <a:srgbClr val="F0F8F0"/>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13" name="Text 11"/>
          <p:cNvSpPr/>
          <p:nvPr/>
        </p:nvSpPr>
        <p:spPr>
          <a:xfrm>
            <a:off x="4800600" y="1883664"/>
            <a:ext cx="3840480" cy="256032"/>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Process Automation</a:t>
            </a:r>
            <a:endParaRPr lang="en-US" sz="1100" dirty="0"/>
          </a:p>
        </p:txBody>
      </p:sp>
      <p:sp>
        <p:nvSpPr>
          <p:cNvPr id="14" name="Text 12"/>
          <p:cNvSpPr/>
          <p:nvPr/>
        </p:nvSpPr>
        <p:spPr>
          <a:xfrm>
            <a:off x="4800600" y="2139696"/>
            <a:ext cx="3840480" cy="713232"/>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Engineered SAP-based automations eliminating manual bottlenecks, reducing process durations by 80% and cutting system downtime by 25% across finance and operations workflows.</a:t>
            </a:r>
            <a:endParaRPr lang="en-US" sz="1000" dirty="0"/>
          </a:p>
        </p:txBody>
      </p:sp>
      <p:sp>
        <p:nvSpPr>
          <p:cNvPr id="15" name="Shape 13"/>
          <p:cNvSpPr/>
          <p:nvPr/>
        </p:nvSpPr>
        <p:spPr>
          <a:xfrm>
            <a:off x="365760" y="3017520"/>
            <a:ext cx="4114800" cy="1097280"/>
          </a:xfrm>
          <a:prstGeom prst="roundRect">
            <a:avLst>
              <a:gd name="adj" fmla="val 8333"/>
            </a:avLst>
          </a:prstGeom>
          <a:solidFill>
            <a:srgbClr val="E8EEF9"/>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16" name="Text 14"/>
          <p:cNvSpPr/>
          <p:nvPr/>
        </p:nvSpPr>
        <p:spPr>
          <a:xfrm>
            <a:off x="502920" y="3090672"/>
            <a:ext cx="3840480" cy="256032"/>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ServiceNow &amp; Incident Management</a:t>
            </a:r>
            <a:endParaRPr lang="en-US" sz="1100" dirty="0"/>
          </a:p>
        </p:txBody>
      </p:sp>
      <p:sp>
        <p:nvSpPr>
          <p:cNvPr id="17" name="Text 15"/>
          <p:cNvSpPr/>
          <p:nvPr/>
        </p:nvSpPr>
        <p:spPr>
          <a:xfrm>
            <a:off x="502920" y="3346704"/>
            <a:ext cx="3840480" cy="713232"/>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Utilized ServiceNow to manage incident lifecycles, coordinate cross-functional issue resolution, document operational requirements, and support workflow execution for 8 high-priority escalations monthly.</a:t>
            </a:r>
            <a:endParaRPr lang="en-US" sz="1000" dirty="0"/>
          </a:p>
        </p:txBody>
      </p:sp>
      <p:sp>
        <p:nvSpPr>
          <p:cNvPr id="18" name="Shape 16"/>
          <p:cNvSpPr/>
          <p:nvPr/>
        </p:nvSpPr>
        <p:spPr>
          <a:xfrm>
            <a:off x="4663440" y="3017520"/>
            <a:ext cx="4114800" cy="1097280"/>
          </a:xfrm>
          <a:prstGeom prst="roundRect">
            <a:avLst>
              <a:gd name="adj" fmla="val 8333"/>
            </a:avLst>
          </a:prstGeom>
          <a:solidFill>
            <a:srgbClr val="F0F8F0"/>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19" name="Text 17"/>
          <p:cNvSpPr/>
          <p:nvPr/>
        </p:nvSpPr>
        <p:spPr>
          <a:xfrm>
            <a:off x="4800600" y="3090672"/>
            <a:ext cx="3840480" cy="256032"/>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Adoption &amp; Enablement</a:t>
            </a:r>
            <a:endParaRPr lang="en-US" sz="1100" dirty="0"/>
          </a:p>
        </p:txBody>
      </p:sp>
      <p:sp>
        <p:nvSpPr>
          <p:cNvPr id="20" name="Text 18"/>
          <p:cNvSpPr/>
          <p:nvPr/>
        </p:nvSpPr>
        <p:spPr>
          <a:xfrm>
            <a:off x="4800600" y="3346704"/>
            <a:ext cx="3840480" cy="71323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Led change management for system implementations — facilitating stakeholder workshops, </a:t>
            </a:r>
            <a:r>
              <a:rPr lang="en-IN" sz="1000" dirty="0"/>
              <a:t>creating process documentation and user enablement materials</a:t>
            </a:r>
            <a:r>
              <a:rPr lang="en-US" sz="1000" dirty="0">
                <a:solidFill>
                  <a:srgbClr val="1A1A2E"/>
                </a:solidFill>
                <a:latin typeface="Calibri" pitchFamily="34" charset="0"/>
                <a:ea typeface="Calibri" pitchFamily="34" charset="-122"/>
                <a:cs typeface="Calibri" pitchFamily="34" charset="-120"/>
              </a:rPr>
              <a:t>, and ensuring adoption of new workflows across distributed global teams.</a:t>
            </a:r>
            <a:endParaRPr lang="en-US" sz="1000" dirty="0"/>
          </a:p>
        </p:txBody>
      </p:sp>
      <p:sp>
        <p:nvSpPr>
          <p:cNvPr id="21" name="Shape 19"/>
          <p:cNvSpPr/>
          <p:nvPr/>
        </p:nvSpPr>
        <p:spPr>
          <a:xfrm>
            <a:off x="365760" y="4315968"/>
            <a:ext cx="1920240" cy="502920"/>
          </a:xfrm>
          <a:prstGeom prst="roundRect">
            <a:avLst>
              <a:gd name="adj" fmla="val 14545"/>
            </a:avLst>
          </a:prstGeom>
          <a:solidFill>
            <a:srgbClr val="1E2761"/>
          </a:solidFill>
          <a:ln w="12700">
            <a:solidFill>
              <a:srgbClr val="1E2761"/>
            </a:solidFill>
            <a:prstDash val="solid"/>
          </a:ln>
        </p:spPr>
        <p:txBody>
          <a:bodyPr/>
          <a:lstStyle/>
          <a:p>
            <a:endParaRPr lang="en-IN"/>
          </a:p>
        </p:txBody>
      </p:sp>
      <p:sp>
        <p:nvSpPr>
          <p:cNvPr id="22" name="Text 20"/>
          <p:cNvSpPr/>
          <p:nvPr/>
        </p:nvSpPr>
        <p:spPr>
          <a:xfrm>
            <a:off x="365760" y="4315968"/>
            <a:ext cx="1920240" cy="5029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80% Process Duration Reduction</a:t>
            </a:r>
            <a:endParaRPr lang="en-US" sz="900" dirty="0"/>
          </a:p>
        </p:txBody>
      </p:sp>
      <p:sp>
        <p:nvSpPr>
          <p:cNvPr id="23" name="Shape 21"/>
          <p:cNvSpPr/>
          <p:nvPr/>
        </p:nvSpPr>
        <p:spPr>
          <a:xfrm>
            <a:off x="2468880" y="4315968"/>
            <a:ext cx="1920240" cy="502920"/>
          </a:xfrm>
          <a:prstGeom prst="roundRect">
            <a:avLst>
              <a:gd name="adj" fmla="val 14545"/>
            </a:avLst>
          </a:prstGeom>
          <a:solidFill>
            <a:srgbClr val="1E2761"/>
          </a:solidFill>
          <a:ln w="12700">
            <a:solidFill>
              <a:srgbClr val="1E2761"/>
            </a:solidFill>
            <a:prstDash val="solid"/>
          </a:ln>
        </p:spPr>
        <p:txBody>
          <a:bodyPr/>
          <a:lstStyle/>
          <a:p>
            <a:endParaRPr lang="en-IN"/>
          </a:p>
        </p:txBody>
      </p:sp>
      <p:sp>
        <p:nvSpPr>
          <p:cNvPr id="24" name="Text 22"/>
          <p:cNvSpPr/>
          <p:nvPr/>
        </p:nvSpPr>
        <p:spPr>
          <a:xfrm>
            <a:off x="2468880" y="4315968"/>
            <a:ext cx="1920240" cy="5029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94% Manual Processing Time Saved</a:t>
            </a:r>
            <a:endParaRPr lang="en-US" sz="900" dirty="0"/>
          </a:p>
        </p:txBody>
      </p:sp>
      <p:sp>
        <p:nvSpPr>
          <p:cNvPr id="25" name="Shape 23"/>
          <p:cNvSpPr/>
          <p:nvPr/>
        </p:nvSpPr>
        <p:spPr>
          <a:xfrm>
            <a:off x="4572000" y="4315968"/>
            <a:ext cx="1920240" cy="502920"/>
          </a:xfrm>
          <a:prstGeom prst="roundRect">
            <a:avLst>
              <a:gd name="adj" fmla="val 14545"/>
            </a:avLst>
          </a:prstGeom>
          <a:solidFill>
            <a:srgbClr val="1E2761"/>
          </a:solidFill>
          <a:ln w="12700">
            <a:solidFill>
              <a:srgbClr val="1E2761"/>
            </a:solidFill>
            <a:prstDash val="solid"/>
          </a:ln>
        </p:spPr>
        <p:txBody>
          <a:bodyPr/>
          <a:lstStyle/>
          <a:p>
            <a:endParaRPr lang="en-IN"/>
          </a:p>
        </p:txBody>
      </p:sp>
      <p:sp>
        <p:nvSpPr>
          <p:cNvPr id="26" name="Text 24"/>
          <p:cNvSpPr/>
          <p:nvPr/>
        </p:nvSpPr>
        <p:spPr>
          <a:xfrm>
            <a:off x="4572000" y="4315968"/>
            <a:ext cx="1920240" cy="5029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25% System Downtime Reduced</a:t>
            </a:r>
            <a:endParaRPr lang="en-US" sz="900" dirty="0"/>
          </a:p>
        </p:txBody>
      </p:sp>
      <p:sp>
        <p:nvSpPr>
          <p:cNvPr id="27" name="Shape 25"/>
          <p:cNvSpPr/>
          <p:nvPr/>
        </p:nvSpPr>
        <p:spPr>
          <a:xfrm>
            <a:off x="6675120" y="4315968"/>
            <a:ext cx="1920240" cy="502920"/>
          </a:xfrm>
          <a:prstGeom prst="roundRect">
            <a:avLst>
              <a:gd name="adj" fmla="val 14545"/>
            </a:avLst>
          </a:prstGeom>
          <a:solidFill>
            <a:srgbClr val="1E2761"/>
          </a:solidFill>
          <a:ln w="12700">
            <a:solidFill>
              <a:srgbClr val="1E2761"/>
            </a:solidFill>
            <a:prstDash val="solid"/>
          </a:ln>
        </p:spPr>
        <p:txBody>
          <a:bodyPr/>
          <a:lstStyle/>
          <a:p>
            <a:endParaRPr lang="en-IN"/>
          </a:p>
        </p:txBody>
      </p:sp>
      <p:sp>
        <p:nvSpPr>
          <p:cNvPr id="28" name="Text 26"/>
          <p:cNvSpPr/>
          <p:nvPr/>
        </p:nvSpPr>
        <p:spPr>
          <a:xfrm>
            <a:off x="6675120" y="4315968"/>
            <a:ext cx="1920240" cy="5029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Zero Client Escalations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365760"/>
          </a:xfrm>
          <a:prstGeom prst="rect">
            <a:avLst/>
          </a:prstGeom>
          <a:noFill/>
          <a:ln/>
        </p:spPr>
        <p:txBody>
          <a:bodyPr wrap="square" rtlCol="0" anchor="ctr"/>
          <a:lstStyle/>
          <a:p>
            <a:pPr marL="0" indent="0">
              <a:buNone/>
            </a:pPr>
            <a:r>
              <a:rPr lang="en-US" sz="1100" b="1" kern="0" spc="400" dirty="0">
                <a:solidFill>
                  <a:srgbClr val="7A9CC0"/>
                </a:solidFill>
                <a:latin typeface="Calibri" pitchFamily="34" charset="0"/>
                <a:ea typeface="Calibri" pitchFamily="34" charset="-122"/>
                <a:cs typeface="Calibri" pitchFamily="34" charset="-120"/>
              </a:rPr>
              <a:t>THE THROUGH-LINE</a:t>
            </a:r>
            <a:endParaRPr lang="en-US" sz="1100" dirty="0"/>
          </a:p>
        </p:txBody>
      </p:sp>
      <p:sp>
        <p:nvSpPr>
          <p:cNvPr id="3" name="Text 1"/>
          <p:cNvSpPr/>
          <p:nvPr/>
        </p:nvSpPr>
        <p:spPr>
          <a:xfrm>
            <a:off x="548640" y="868680"/>
            <a:ext cx="8046720" cy="128016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I translate complexity into clarity,</a:t>
            </a:r>
            <a:endParaRPr lang="en-US" sz="3200" dirty="0"/>
          </a:p>
          <a:p>
            <a:pPr marL="0" indent="0">
              <a:buNone/>
            </a:pPr>
            <a:r>
              <a:rPr lang="en-US" sz="3200" b="1" dirty="0">
                <a:solidFill>
                  <a:srgbClr val="FFFFFF"/>
                </a:solidFill>
                <a:latin typeface="Calibri" pitchFamily="34" charset="0"/>
                <a:ea typeface="Calibri" pitchFamily="34" charset="-122"/>
                <a:cs typeface="Calibri" pitchFamily="34" charset="-120"/>
              </a:rPr>
              <a:t>and clarity into adoption.</a:t>
            </a:r>
            <a:endParaRPr lang="en-US" sz="3200" dirty="0"/>
          </a:p>
        </p:txBody>
      </p:sp>
      <p:sp>
        <p:nvSpPr>
          <p:cNvPr id="4" name="Shape 2"/>
          <p:cNvSpPr/>
          <p:nvPr/>
        </p:nvSpPr>
        <p:spPr>
          <a:xfrm>
            <a:off x="548640" y="2240280"/>
            <a:ext cx="3200400" cy="36576"/>
          </a:xfrm>
          <a:prstGeom prst="rect">
            <a:avLst/>
          </a:prstGeom>
          <a:solidFill>
            <a:srgbClr val="2E86AB"/>
          </a:solidFill>
          <a:ln w="12700">
            <a:solidFill>
              <a:srgbClr val="2E86AB"/>
            </a:solidFill>
            <a:prstDash val="solid"/>
          </a:ln>
        </p:spPr>
        <p:txBody>
          <a:bodyPr/>
          <a:lstStyle/>
          <a:p>
            <a:endParaRPr lang="en-IN"/>
          </a:p>
        </p:txBody>
      </p:sp>
      <p:sp>
        <p:nvSpPr>
          <p:cNvPr id="5" name="Shape 3"/>
          <p:cNvSpPr/>
          <p:nvPr/>
        </p:nvSpPr>
        <p:spPr>
          <a:xfrm>
            <a:off x="548640" y="2423160"/>
            <a:ext cx="2606040" cy="1005840"/>
          </a:xfrm>
          <a:prstGeom prst="roundRect">
            <a:avLst>
              <a:gd name="adj" fmla="val 9091"/>
            </a:avLst>
          </a:prstGeom>
          <a:solidFill>
            <a:srgbClr val="2E4A8A"/>
          </a:solidFill>
          <a:ln w="12700">
            <a:solidFill>
              <a:srgbClr val="4A6AB0"/>
            </a:solidFill>
            <a:prstDash val="solid"/>
          </a:ln>
        </p:spPr>
        <p:txBody>
          <a:bodyPr/>
          <a:lstStyle/>
          <a:p>
            <a:endParaRPr lang="en-IN"/>
          </a:p>
        </p:txBody>
      </p:sp>
      <p:sp>
        <p:nvSpPr>
          <p:cNvPr id="6" name="Text 4"/>
          <p:cNvSpPr/>
          <p:nvPr/>
        </p:nvSpPr>
        <p:spPr>
          <a:xfrm>
            <a:off x="594360" y="2514600"/>
            <a:ext cx="251460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Requirements Gathering</a:t>
            </a:r>
            <a:endParaRPr lang="en-US" sz="1200" dirty="0"/>
          </a:p>
        </p:txBody>
      </p:sp>
      <p:sp>
        <p:nvSpPr>
          <p:cNvPr id="7" name="Text 5"/>
          <p:cNvSpPr/>
          <p:nvPr/>
        </p:nvSpPr>
        <p:spPr>
          <a:xfrm>
            <a:off x="594360" y="2880360"/>
            <a:ext cx="2514600" cy="411480"/>
          </a:xfrm>
          <a:prstGeom prst="rect">
            <a:avLst/>
          </a:prstGeom>
          <a:noFill/>
          <a:ln/>
        </p:spPr>
        <p:txBody>
          <a:bodyPr wrap="square" rtlCol="0" anchor="ctr"/>
          <a:lstStyle/>
          <a:p>
            <a:pPr marL="0" indent="0" algn="ctr">
              <a:buNone/>
            </a:pPr>
            <a:r>
              <a:rPr lang="en-US" sz="1000" dirty="0">
                <a:solidFill>
                  <a:srgbClr val="A8C4E0"/>
                </a:solidFill>
                <a:latin typeface="Calibri" pitchFamily="34" charset="0"/>
                <a:ea typeface="Calibri" pitchFamily="34" charset="-122"/>
                <a:cs typeface="Calibri" pitchFamily="34" charset="-120"/>
              </a:rPr>
              <a:t>Across Boeing, Accenture &amp; Primetals</a:t>
            </a:r>
            <a:endParaRPr lang="en-US" sz="1000" dirty="0"/>
          </a:p>
        </p:txBody>
      </p:sp>
      <p:sp>
        <p:nvSpPr>
          <p:cNvPr id="8" name="Shape 6"/>
          <p:cNvSpPr/>
          <p:nvPr/>
        </p:nvSpPr>
        <p:spPr>
          <a:xfrm>
            <a:off x="3383280" y="2423160"/>
            <a:ext cx="2606040" cy="1005840"/>
          </a:xfrm>
          <a:prstGeom prst="roundRect">
            <a:avLst>
              <a:gd name="adj" fmla="val 9091"/>
            </a:avLst>
          </a:prstGeom>
          <a:solidFill>
            <a:srgbClr val="2E4A8A"/>
          </a:solidFill>
          <a:ln w="12700">
            <a:solidFill>
              <a:srgbClr val="4A6AB0"/>
            </a:solidFill>
            <a:prstDash val="solid"/>
          </a:ln>
        </p:spPr>
        <p:txBody>
          <a:bodyPr/>
          <a:lstStyle/>
          <a:p>
            <a:endParaRPr lang="en-IN"/>
          </a:p>
        </p:txBody>
      </p:sp>
      <p:sp>
        <p:nvSpPr>
          <p:cNvPr id="9" name="Text 7"/>
          <p:cNvSpPr/>
          <p:nvPr/>
        </p:nvSpPr>
        <p:spPr>
          <a:xfrm>
            <a:off x="3429000" y="2514600"/>
            <a:ext cx="251460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Workflow Documentation</a:t>
            </a:r>
            <a:endParaRPr lang="en-US" sz="1200" dirty="0"/>
          </a:p>
        </p:txBody>
      </p:sp>
      <p:sp>
        <p:nvSpPr>
          <p:cNvPr id="10" name="Text 8"/>
          <p:cNvSpPr/>
          <p:nvPr/>
        </p:nvSpPr>
        <p:spPr>
          <a:xfrm>
            <a:off x="3429000" y="2880360"/>
            <a:ext cx="2514600" cy="411480"/>
          </a:xfrm>
          <a:prstGeom prst="rect">
            <a:avLst/>
          </a:prstGeom>
          <a:noFill/>
          <a:ln/>
        </p:spPr>
        <p:txBody>
          <a:bodyPr wrap="square" rtlCol="0" anchor="ctr"/>
          <a:lstStyle/>
          <a:p>
            <a:pPr marL="0" indent="0" algn="ctr">
              <a:buNone/>
            </a:pPr>
            <a:r>
              <a:rPr lang="en-US" sz="1000" dirty="0">
                <a:solidFill>
                  <a:srgbClr val="A8C4E0"/>
                </a:solidFill>
                <a:latin typeface="Calibri" pitchFamily="34" charset="0"/>
                <a:ea typeface="Calibri" pitchFamily="34" charset="-122"/>
                <a:cs typeface="Calibri" pitchFamily="34" charset="-120"/>
              </a:rPr>
              <a:t>Current &amp; future-state across 3 organizations</a:t>
            </a:r>
            <a:endParaRPr lang="en-US" sz="1000" dirty="0"/>
          </a:p>
        </p:txBody>
      </p:sp>
      <p:sp>
        <p:nvSpPr>
          <p:cNvPr id="11" name="Shape 9"/>
          <p:cNvSpPr/>
          <p:nvPr/>
        </p:nvSpPr>
        <p:spPr>
          <a:xfrm>
            <a:off x="6217920" y="2423160"/>
            <a:ext cx="2606040" cy="1005840"/>
          </a:xfrm>
          <a:prstGeom prst="roundRect">
            <a:avLst>
              <a:gd name="adj" fmla="val 9091"/>
            </a:avLst>
          </a:prstGeom>
          <a:solidFill>
            <a:srgbClr val="2E4A8A"/>
          </a:solidFill>
          <a:ln w="12700">
            <a:solidFill>
              <a:srgbClr val="4A6AB0"/>
            </a:solidFill>
            <a:prstDash val="solid"/>
          </a:ln>
        </p:spPr>
        <p:txBody>
          <a:bodyPr/>
          <a:lstStyle/>
          <a:p>
            <a:endParaRPr lang="en-IN"/>
          </a:p>
        </p:txBody>
      </p:sp>
      <p:sp>
        <p:nvSpPr>
          <p:cNvPr id="12" name="Text 10"/>
          <p:cNvSpPr/>
          <p:nvPr/>
        </p:nvSpPr>
        <p:spPr>
          <a:xfrm>
            <a:off x="6263640" y="2514600"/>
            <a:ext cx="251460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Cross-Functional Enablement</a:t>
            </a:r>
            <a:endParaRPr lang="en-US" sz="1200" dirty="0"/>
          </a:p>
        </p:txBody>
      </p:sp>
      <p:sp>
        <p:nvSpPr>
          <p:cNvPr id="13" name="Text 11"/>
          <p:cNvSpPr/>
          <p:nvPr/>
        </p:nvSpPr>
        <p:spPr>
          <a:xfrm>
            <a:off x="6263640" y="2880360"/>
            <a:ext cx="2514600" cy="411480"/>
          </a:xfrm>
          <a:prstGeom prst="rect">
            <a:avLst/>
          </a:prstGeom>
          <a:noFill/>
          <a:ln/>
        </p:spPr>
        <p:txBody>
          <a:bodyPr wrap="square" rtlCol="0" anchor="ctr"/>
          <a:lstStyle/>
          <a:p>
            <a:pPr marL="0" indent="0" algn="ctr">
              <a:buNone/>
            </a:pPr>
            <a:r>
              <a:rPr lang="en-US" sz="1000" dirty="0">
                <a:solidFill>
                  <a:srgbClr val="A8C4E0"/>
                </a:solidFill>
                <a:latin typeface="Calibri" pitchFamily="34" charset="0"/>
                <a:ea typeface="Calibri" pitchFamily="34" charset="-122"/>
                <a:cs typeface="Calibri" pitchFamily="34" charset="-120"/>
              </a:rPr>
              <a:t>8.5 years bridging business &amp; technology</a:t>
            </a:r>
            <a:endParaRPr lang="en-US" sz="1000" dirty="0"/>
          </a:p>
        </p:txBody>
      </p:sp>
      <p:sp>
        <p:nvSpPr>
          <p:cNvPr id="14" name="Text 12"/>
          <p:cNvSpPr/>
          <p:nvPr/>
        </p:nvSpPr>
        <p:spPr>
          <a:xfrm>
            <a:off x="548640" y="4480560"/>
            <a:ext cx="8046720" cy="320040"/>
          </a:xfrm>
          <a:prstGeom prst="rect">
            <a:avLst/>
          </a:prstGeom>
          <a:noFill/>
          <a:ln/>
        </p:spPr>
        <p:txBody>
          <a:bodyPr wrap="square" rtlCol="0" anchor="ctr"/>
          <a:lstStyle/>
          <a:p>
            <a:pPr marL="0" indent="0">
              <a:buNone/>
            </a:pPr>
            <a:r>
              <a:rPr lang="en-US" sz="1000" dirty="0">
                <a:solidFill>
                  <a:srgbClr val="7A9CC0"/>
                </a:solidFill>
                <a:latin typeface="Calibri" pitchFamily="34" charset="0"/>
                <a:ea typeface="Calibri" pitchFamily="34" charset="-122"/>
                <a:cs typeface="Calibri" pitchFamily="34" charset="-120"/>
              </a:rPr>
              <a:t>Darla Moore School of Business, University of South Carolina  |  IMBA '26  |  Supply Chain &amp; Business Analytics</a:t>
            </a:r>
            <a:endParaRPr lang="en-US" sz="1000" dirty="0"/>
          </a:p>
        </p:txBody>
      </p:sp>
      <p:sp>
        <p:nvSpPr>
          <p:cNvPr id="15" name="Text 13"/>
          <p:cNvSpPr/>
          <p:nvPr/>
        </p:nvSpPr>
        <p:spPr>
          <a:xfrm>
            <a:off x="548640" y="4754880"/>
            <a:ext cx="8046720" cy="274320"/>
          </a:xfrm>
          <a:prstGeom prst="rect">
            <a:avLst/>
          </a:prstGeom>
          <a:noFill/>
          <a:ln/>
        </p:spPr>
        <p:txBody>
          <a:bodyPr wrap="square" rtlCol="0" anchor="ctr"/>
          <a:lstStyle/>
          <a:p>
            <a:pPr marL="0" indent="0">
              <a:buNone/>
            </a:pPr>
            <a:r>
              <a:rPr lang="en-US" sz="1000" dirty="0">
                <a:solidFill>
                  <a:srgbClr val="5A7CA0"/>
                </a:solidFill>
                <a:latin typeface="Calibri" pitchFamily="34" charset="0"/>
                <a:ea typeface="Calibri" pitchFamily="34" charset="-122"/>
                <a:cs typeface="Calibri" pitchFamily="34" charset="-120"/>
              </a:rPr>
              <a:t>mvasa@email.sc.edu  |  (803) 261-5323  |  linkedin.com/in/moukthika-vasa-mba-89278a107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TotalTime>
  <Words>801</Words>
  <Application>Microsoft Office PowerPoint</Application>
  <PresentationFormat>On-screen Show (16:9)</PresentationFormat>
  <Paragraphs>85</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Moukthika Vasa Product Portfolio</dc:title>
  <dc:subject>PptxGenJS Presentation</dc:subject>
  <dc:creator>PptxGenJS</dc:creator>
  <cp:lastModifiedBy>Vasa, Moukthika</cp:lastModifiedBy>
  <cp:revision>11</cp:revision>
  <dcterms:created xsi:type="dcterms:W3CDTF">2026-06-18T00:59:07Z</dcterms:created>
  <dcterms:modified xsi:type="dcterms:W3CDTF">2026-06-18T03:23:06Z</dcterms:modified>
</cp:coreProperties>
</file>